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df920f480a491c" /><Relationship Type="http://schemas.openxmlformats.org/officeDocument/2006/relationships/extended-properties" Target="/docProps/app.xml" Id="R07dd8f7f3db14b02" /><Relationship Type="http://schemas.openxmlformats.org/officeDocument/2006/relationships/officeDocument" Target="/ppt/presentation.xml" Id="Rf04da76220af4c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feba0fae4e4d5a"/>
  </p:sldMasterIdLst>
  <p:notesMasterIdLst>
    <p:notesMasterId xmlns:r="http://schemas.openxmlformats.org/officeDocument/2006/relationships" r:id="R0c910ec816ee4f63"/>
  </p:notesMasterIdLst>
  <p:sldIdLst>
    <p:sldId xmlns:r="http://schemas.openxmlformats.org/officeDocument/2006/relationships" id="256" r:id="Rb4d39a25e3664065"/>
    <p:sldId xmlns:r="http://schemas.openxmlformats.org/officeDocument/2006/relationships" id="257" r:id="Rc8570bec791c4dbb"/>
    <p:sldId xmlns:r="http://schemas.openxmlformats.org/officeDocument/2006/relationships" id="258" r:id="R6bfc0519095c4840"/>
    <p:sldId xmlns:r="http://schemas.openxmlformats.org/officeDocument/2006/relationships" id="259" r:id="R9be0f53c72f84166"/>
    <p:sldId xmlns:r="http://schemas.openxmlformats.org/officeDocument/2006/relationships" id="260" r:id="R36beb43b337748b1"/>
    <p:sldId xmlns:r="http://schemas.openxmlformats.org/officeDocument/2006/relationships" id="261" r:id="R136221adcb4a4b82"/>
    <p:sldId xmlns:r="http://schemas.openxmlformats.org/officeDocument/2006/relationships" id="262" r:id="R76a823b71aae4f51"/>
    <p:sldId xmlns:r="http://schemas.openxmlformats.org/officeDocument/2006/relationships" id="263" r:id="Rfa48a16cd54e4803"/>
    <p:sldId xmlns:r="http://schemas.openxmlformats.org/officeDocument/2006/relationships" id="264" r:id="R9ab42667d7b44f3e"/>
    <p:sldId xmlns:r="http://schemas.openxmlformats.org/officeDocument/2006/relationships" id="265" r:id="Ra30a136add5947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d81e35dffd4313" /><Relationship Type="http://schemas.openxmlformats.org/officeDocument/2006/relationships/slideMaster" Target="/ppt/slideMasters/slideMaster1.xml" Id="R57feba0fae4e4d5a" /><Relationship Type="http://schemas.openxmlformats.org/officeDocument/2006/relationships/notesMaster" Target="/ppt/notesMasters/notesMaster1.xml" Id="R0c910ec816ee4f63" /><Relationship Type="http://schemas.openxmlformats.org/officeDocument/2006/relationships/presProps" Target="/ppt/presProps.xml" Id="Rc0bf3bb358e549b3" /><Relationship Type="http://schemas.openxmlformats.org/officeDocument/2006/relationships/tableStyles" Target="/ppt/tableStyles.xml" Id="R27d31a73763a45c0" /><Relationship Type="http://schemas.openxmlformats.org/officeDocument/2006/relationships/slide" Target="/ppt/slides/slide1.xml" Id="Rb4d39a25e3664065" /><Relationship Type="http://schemas.openxmlformats.org/officeDocument/2006/relationships/slide" Target="/ppt/slides/slide2.xml" Id="Rc8570bec791c4dbb" /><Relationship Type="http://schemas.openxmlformats.org/officeDocument/2006/relationships/slide" Target="/ppt/slides/slide3.xml" Id="R6bfc0519095c4840" /><Relationship Type="http://schemas.openxmlformats.org/officeDocument/2006/relationships/slide" Target="/ppt/slides/slide4.xml" Id="R9be0f53c72f84166" /><Relationship Type="http://schemas.openxmlformats.org/officeDocument/2006/relationships/slide" Target="/ppt/slides/slide5.xml" Id="R36beb43b337748b1" /><Relationship Type="http://schemas.openxmlformats.org/officeDocument/2006/relationships/slide" Target="/ppt/slides/slide6.xml" Id="R136221adcb4a4b82" /><Relationship Type="http://schemas.openxmlformats.org/officeDocument/2006/relationships/slide" Target="/ppt/slides/slide7.xml" Id="R76a823b71aae4f51" /><Relationship Type="http://schemas.openxmlformats.org/officeDocument/2006/relationships/slide" Target="/ppt/slides/slide8.xml" Id="Rfa48a16cd54e4803" /><Relationship Type="http://schemas.openxmlformats.org/officeDocument/2006/relationships/slide" Target="/ppt/slides/slide9.xml" Id="R9ab42667d7b44f3e" /><Relationship Type="http://schemas.openxmlformats.org/officeDocument/2006/relationships/slide" Target="/ppt/slides/slide10.xml" Id="Ra30a136add5947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05ae9874b642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8b673ee5514935" /><Relationship Type="http://schemas.openxmlformats.org/officeDocument/2006/relationships/notesMaster" Target="/ppt/notesMasters/notesMaster1.xml" Id="R635c382421bb4a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5762205f7443c6" /><Relationship Type="http://schemas.openxmlformats.org/officeDocument/2006/relationships/notesMaster" Target="/ppt/notesMasters/notesMaster1.xml" Id="Rd30f7d22f88b48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07a67decd34f08" /><Relationship Type="http://schemas.openxmlformats.org/officeDocument/2006/relationships/notesMaster" Target="/ppt/notesMasters/notesMaster1.xml" Id="R3ce301f38bd545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4fa3b66898483d" /><Relationship Type="http://schemas.openxmlformats.org/officeDocument/2006/relationships/notesMaster" Target="/ppt/notesMasters/notesMaster1.xml" Id="R1faeb3b568db40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b7da247dac45af" /><Relationship Type="http://schemas.openxmlformats.org/officeDocument/2006/relationships/notesMaster" Target="/ppt/notesMasters/notesMaster1.xml" Id="Re4580c9d49e143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c8882ff0ed4526" /><Relationship Type="http://schemas.openxmlformats.org/officeDocument/2006/relationships/notesMaster" Target="/ppt/notesMasters/notesMaster1.xml" Id="R57e13b8d950c42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6ce23250834441" /><Relationship Type="http://schemas.openxmlformats.org/officeDocument/2006/relationships/notesMaster" Target="/ppt/notesMasters/notesMaster1.xml" Id="Rd3fb2bdf673e41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d589c90b76428f" /><Relationship Type="http://schemas.openxmlformats.org/officeDocument/2006/relationships/notesMaster" Target="/ppt/notesMasters/notesMaster1.xml" Id="Rb31eeef25e8d4b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c42d435c5b49fc" /><Relationship Type="http://schemas.openxmlformats.org/officeDocument/2006/relationships/notesMaster" Target="/ppt/notesMasters/notesMaster1.xml" Id="R237b4ec3b8ad4f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65e3a178c74e3b" /><Relationship Type="http://schemas.openxmlformats.org/officeDocument/2006/relationships/notesMaster" Target="/ppt/notesMasters/notesMaster1.xml" Id="Ra57f4e52916544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2b1ce5cc034b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ac614c75c34b88" /><Relationship Type="http://schemas.openxmlformats.org/officeDocument/2006/relationships/slideLayout" Target="/ppt/slideLayouts/slideLayout1.xml" Id="R5f27743abeb049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27743abeb049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ad577655a44b6" /><Relationship Type="http://schemas.openxmlformats.org/officeDocument/2006/relationships/image" Target="/ppt/media/image.png" Id="R9a7a5dd7d895410c" /><Relationship Type="http://schemas.openxmlformats.org/officeDocument/2006/relationships/notesSlide" Target="/ppt/notesSlides/notesSlide1.xml" Id="R908bdd979d3b40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f418a632b4707" /><Relationship Type="http://schemas.openxmlformats.org/officeDocument/2006/relationships/notesSlide" Target="/ppt/notesSlides/notesSlide2.xml" Id="R4e3a7ac2d9c345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4dc2c60d8403a" /><Relationship Type="http://schemas.openxmlformats.org/officeDocument/2006/relationships/notesSlide" Target="/ppt/notesSlides/notesSlide3.xml" Id="R7ca7c84d26f5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8626ad67a47c8" /><Relationship Type="http://schemas.openxmlformats.org/officeDocument/2006/relationships/image" Target="/ppt/media/image.bin" Id="R3c560b61d25449ae" /><Relationship Type="http://schemas.openxmlformats.org/officeDocument/2006/relationships/notesSlide" Target="/ppt/notesSlides/notesSlide4.xml" Id="R15023bdefdea41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f1da22d9f4d18" /><Relationship Type="http://schemas.openxmlformats.org/officeDocument/2006/relationships/notesSlide" Target="/ppt/notesSlides/notesSlide5.xml" Id="R67146fda412745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1f6d5b34b4565" /><Relationship Type="http://schemas.openxmlformats.org/officeDocument/2006/relationships/notesSlide" Target="/ppt/notesSlides/notesSlide6.xml" Id="R84e77c24529642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348f9ce4742b0" /><Relationship Type="http://schemas.openxmlformats.org/officeDocument/2006/relationships/notesSlide" Target="/ppt/notesSlides/notesSlide7.xml" Id="Ra4d07628d9144d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692ad9e784f63" /><Relationship Type="http://schemas.openxmlformats.org/officeDocument/2006/relationships/notesSlide" Target="/ppt/notesSlides/notesSlide8.xml" Id="R387d1c94b0614e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c1969659b4859" /><Relationship Type="http://schemas.openxmlformats.org/officeDocument/2006/relationships/notesSlide" Target="/ppt/notesSlides/notesSlide9.xml" Id="Rca360bc5c98241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6bed0ad9e4bf4" /><Relationship Type="http://schemas.openxmlformats.org/officeDocument/2006/relationships/image" Target="/ppt/media/image2.png" Id="Rf6eb9c90f6f04305" /><Relationship Type="http://schemas.openxmlformats.org/officeDocument/2006/relationships/notesSlide" Target="/ppt/notesSlides/notesSlide10.xml" Id="R0b4c318e08934d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0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D35C6-7AB6-4846-8D60-1DA06BDA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a5dd7d895410c"/>
          <a:stretch xmlns:a="http://schemas.openxmlformats.org/drawingml/2006/main"/>
        </p:blipFill>
        <p:spPr>
          <a:xfrm xmlns:a="http://schemas.openxmlformats.org/drawingml/2006/main">
            <a:off x="685800" y="5715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85803-652A-4FC3-86A6-699F2957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DFE"/>
                </a:solidFill>
              </a:defRPr>
            </a:pPr>
            <a:r>
              <a:rPr sz="1875" b="1">
                <a:solidFill>
                  <a:srgbClr val="FFFDFE"/>
                </a:solidFill>
              </a:rPr>
              <a:t>unvibe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EE263-3F56-4C7C-BC84-647D12AC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1A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E0003-64C7-40DF-9B34-C9E9EFC5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6212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9A3FF"/>
                </a:solidFill>
              </a:defRPr>
            </a:pPr>
            <a:r>
              <a:rPr sz="825" b="1">
                <a:solidFill>
                  <a:srgbClr val="B9A3FF"/>
                </a:solidFill>
              </a:rPr>
              <a:t>PRIVATE BETA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59749-82E0-4665-94A9-78A83E3A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04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DFE"/>
                </a:solidFill>
              </a:defRPr>
            </a:pPr>
            <a:r>
              <a:rPr sz="5100" b="1">
                <a:solidFill>
                  <a:srgbClr val="FFFDFE"/>
                </a:solidFill>
              </a:rPr>
              <a:t>Understand the</a:t>
            </a:r>
          </a:p>
          <a:p xmlns:a="http://schemas.openxmlformats.org/drawingml/2006/main">
            <a:pPr>
              <a:defRPr sz="5100" b="1">
                <a:solidFill>
                  <a:srgbClr val="FFFDFE"/>
                </a:solidFill>
              </a:defRPr>
            </a:pPr>
            <a:r>
              <a:rPr sz="5100" b="1">
                <a:solidFill>
                  <a:srgbClr val="FFFDFE"/>
                </a:solidFill>
              </a:rPr>
              <a:t>code AI writes.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B8D27-651F-40A9-8F9C-B0376BAC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8BED8"/>
                </a:solidFill>
              </a:defRPr>
            </a:pPr>
            <a:r>
              <a:rPr sz="1725">
                <a:solidFill>
                  <a:srgbClr val="C8BED8"/>
                </a:solidFill>
              </a:rPr>
              <a:t>A desktop learning layer for people building with AI coding tools.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A1FF8-7328-49F4-98D4-A1B39ED9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00150"/>
            <a:ext cx="295275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1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1AC6A-C924-4CE0-BF3B-A1396BAE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1924050" cy="1924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5D469-846B-41E5-AC9B-95D9445A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11620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C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5A4EB-1ED0-48E6-B593-F7747C06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57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9A3FF"/>
                </a:solidFill>
              </a:defRPr>
            </a:pPr>
            <a:r>
              <a:rPr sz="1425" b="1">
                <a:solidFill>
                  <a:srgbClr val="B9A3FF"/>
                </a:solidFill>
              </a:rPr>
              <a:t>AI writes the code.</a:t>
            </a:r>
          </a:p>
          <a:p xmlns:a="http://schemas.openxmlformats.org/drawingml/2006/main">
            <a:pPr>
              <a:defRPr sz="1425" b="1">
                <a:solidFill>
                  <a:srgbClr val="B9A3FF"/>
                </a:solidFill>
              </a:defRPr>
            </a:pPr>
            <a:r>
              <a:rPr sz="1425" b="1">
                <a:solidFill>
                  <a:srgbClr val="B9A3FF"/>
                </a:solidFill>
              </a:rPr>
              <a:t>Unvibe helps you understand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5EA96-4A1D-4757-8DF9-22114590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8BED8"/>
                </a:solidFill>
              </a:defRPr>
            </a:pPr>
            <a:r>
              <a:rPr sz="900">
                <a:solidFill>
                  <a:srgbClr val="C8BED8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1431744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0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2B579-70EC-4B07-B33E-C0F63380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A3FF"/>
                </a:solidFill>
              </a:defRPr>
            </a:pPr>
            <a:r>
              <a:rPr sz="900" b="1">
                <a:solidFill>
                  <a:srgbClr val="B9A3FF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2C2E8-755F-4097-828E-A23F4920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BED8"/>
                </a:solidFill>
              </a:defRPr>
            </a:pPr>
            <a:r>
              <a:rPr sz="900" b="1">
                <a:solidFill>
                  <a:srgbClr val="C8BED8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AFB51-BDC3-4DBE-83E6-E65F9A0D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E89841AD-ADB1-43D5-BCF1-1C1C750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DFE"/>
                </a:solidFill>
              </a:defRPr>
            </a:pPr>
            <a:r>
              <a:rPr sz="3300" b="1">
                <a:solidFill>
                  <a:srgbClr val="FFFDFE"/>
                </a:solidFill>
              </a:rPr>
              <a:t>AI coding is faster.</a:t>
            </a:r>
          </a:p>
          <a:p xmlns:a="http://schemas.openxmlformats.org/drawingml/2006/main">
            <a:pPr>
              <a:defRPr sz="3300" b="1">
                <a:solidFill>
                  <a:srgbClr val="FFFDFE"/>
                </a:solidFill>
              </a:defRPr>
            </a:pPr>
            <a:r>
              <a:rPr sz="3300" b="1">
                <a:solidFill>
                  <a:srgbClr val="FFFDFE"/>
                </a:solidFill>
              </a:rPr>
              <a:t>Understanding is now the bottleneck.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7AF1833F-079A-42D5-B2DC-47C82C9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8BED8"/>
                </a:solidFill>
              </a:defRPr>
            </a:pPr>
            <a:r>
              <a:rPr sz="1500">
                <a:solidFill>
                  <a:srgbClr val="C8BED8"/>
                </a:solidFill>
              </a:rPr>
              <a:t>Teams can generate and ship more code than ever. The gap is confidence: what changed, why it works, and whether the builder can maintain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C7349-0D88-457F-82B2-0722E169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8C004-CF06-4C5C-9CE7-9142CF1B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E"/>
                </a:solidFill>
              </a:defRPr>
            </a:pPr>
            <a:r>
              <a:rPr sz="1650" b="1">
                <a:solidFill>
                  <a:srgbClr val="FFFDFE"/>
                </a:solidFill>
              </a:rPr>
              <a:t>Context disappears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AF247-9B99-4DEB-9A36-E391AC21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Generated changes arrive inside unfamiliar files, patterns, and dependencies.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2DF74-C2B0-4F2D-8174-D7B19DDD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86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20EEE-195A-44E8-AAB9-049C5198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48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E"/>
                </a:solidFill>
              </a:defRPr>
            </a:pPr>
            <a:r>
              <a:rPr sz="1650" b="1">
                <a:solidFill>
                  <a:srgbClr val="FFFDFE"/>
                </a:solidFill>
              </a:rPr>
              <a:t>Review gets deferred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FD4F8-A9B2-43B5-BCEA-CCF45328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7528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People accept code to keep momentum, then lose the moment when learning could happen.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D0613-ADDA-4A81-BA34-3523C073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AA176-74EC-4BDB-A840-212AA658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E"/>
                </a:solidFill>
              </a:defRPr>
            </a:pPr>
            <a:r>
              <a:rPr sz="1650" b="1">
                <a:solidFill>
                  <a:srgbClr val="FFFDFE"/>
                </a:solidFill>
              </a:rPr>
              <a:t>Knowledge does not compound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16985-DA3B-40E8-B820-D8DC73F8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Explanations live in chat windows instead of becoming a durable personal learning history.</a:t>
            </a:r>
          </a:p>
        </p:txBody>
      </p:sp>
    </p:spTree>
    <p:extLst>
      <p:ext uri="{BB962C8B-B14F-4D97-AF65-F5344CB8AC3E}">
        <p14:creationId xmlns:p14="http://schemas.microsoft.com/office/powerpoint/2010/main" val="614178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0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6AEF04-79FE-4136-9358-BD42C3A1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A3FF"/>
                </a:solidFill>
              </a:defRPr>
            </a:pPr>
            <a:r>
              <a:rPr sz="900" b="1">
                <a:solidFill>
                  <a:srgbClr val="B9A3FF"/>
                </a:solidFill>
              </a:rPr>
              <a:t>THE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B4B96-2135-48D6-8430-BBC7CB67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BED8"/>
                </a:solidFill>
              </a:defRPr>
            </a:pPr>
            <a:r>
              <a:rPr sz="900" b="1">
                <a:solidFill>
                  <a:srgbClr val="C8BED8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9FEDA-E2FB-4CD3-BFB2-5D1044D8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23B18961-14DA-4A9F-81EA-02CEC5CC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DFE"/>
                </a:solidFill>
              </a:defRPr>
            </a:pPr>
            <a:r>
              <a:rPr sz="3300" b="1">
                <a:solidFill>
                  <a:srgbClr val="FFFDFE"/>
                </a:solidFill>
              </a:rPr>
              <a:t>Unvibe turns each AI-generated change into a learning moment.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2CF751C7-53D2-40F3-B2D8-CE5288B2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8BED8"/>
                </a:solidFill>
              </a:defRPr>
            </a:pPr>
            <a:r>
              <a:rPr sz="1500">
                <a:solidFill>
                  <a:srgbClr val="C8BED8"/>
                </a:solidFill>
              </a:rPr>
              <a:t>It sits beside the existing coding workflow: explain the change with project context, let the user choose depth, then retain the learning.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48468-5901-47B0-911B-873EC13F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6764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113F"/>
          </a:solidFill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7D73F-54B7-44C7-AD85-744E940E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A3FF"/>
                </a:solidFill>
              </a:defRPr>
            </a:pPr>
            <a:r>
              <a:rPr sz="975" b="1">
                <a:solidFill>
                  <a:srgbClr val="B9A3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67829-17A1-4417-8168-DF93AD77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E"/>
                </a:solidFill>
              </a:defRPr>
            </a:pPr>
            <a:r>
              <a:rPr sz="1500" b="1">
                <a:solidFill>
                  <a:srgbClr val="FFFDFE"/>
                </a:solidFill>
              </a:rPr>
              <a:t>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B2E67-5788-4D08-98AE-D549480C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BED8"/>
                </a:solidFill>
              </a:defRPr>
            </a:pPr>
            <a:r>
              <a:rPr sz="975">
                <a:solidFill>
                  <a:srgbClr val="C8BED8"/>
                </a:solidFill>
              </a:rPr>
              <a:t>AI or developer updates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10F13-3181-423F-91DC-C5570241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243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A3FF"/>
                </a:solidFill>
              </a:defRPr>
            </a:pPr>
            <a:r>
              <a:rPr sz="1500">
                <a:solidFill>
                  <a:srgbClr val="B9A3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6D4F6-EADE-49E2-88E7-5905A7E2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48100"/>
            <a:ext cx="16764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113F"/>
          </a:solidFill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00539-FDCC-4C43-AE38-FB169C54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3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A3FF"/>
                </a:solidFill>
              </a:defRPr>
            </a:pPr>
            <a:r>
              <a:rPr sz="975" b="1">
                <a:solidFill>
                  <a:srgbClr val="B9A3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DAA5E-AC61-42F7-A936-1EDCB06E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3434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E"/>
                </a:solidFill>
              </a:defRPr>
            </a:pPr>
            <a:r>
              <a:rPr sz="1500" b="1">
                <a:solidFill>
                  <a:srgbClr val="FFFDFE"/>
                </a:solidFill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66261-0FD3-41E3-A5DB-935516C9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672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BED8"/>
                </a:solidFill>
              </a:defRPr>
            </a:pPr>
            <a:r>
              <a:rPr sz="975">
                <a:solidFill>
                  <a:srgbClr val="C8BED8"/>
                </a:solidFill>
              </a:rPr>
              <a:t>Quiet prompt, no context switch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189BC-FB86-42A8-90F6-2A832958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243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A3FF"/>
                </a:solidFill>
              </a:defRPr>
            </a:pPr>
            <a:r>
              <a:rPr sz="1500">
                <a:solidFill>
                  <a:srgbClr val="B9A3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4C57C-5F5B-43F1-8DCC-C3FD1A75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48100"/>
            <a:ext cx="16764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F2D88"/>
          </a:solidFill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B859D-38A1-4981-8597-EE40C642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A3FF"/>
                </a:solidFill>
              </a:defRPr>
            </a:pPr>
            <a:r>
              <a:rPr sz="975" b="1">
                <a:solidFill>
                  <a:srgbClr val="B9A3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70216-4AB7-4BC0-BD4A-EBEECB88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434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E"/>
                </a:solidFill>
              </a:defRPr>
            </a:pPr>
            <a:r>
              <a:rPr sz="1500" b="1">
                <a:solidFill>
                  <a:srgbClr val="FFFDFE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80291-85E2-45E9-B359-16819CC7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672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BED8"/>
                </a:solidFill>
              </a:defRPr>
            </a:pPr>
            <a:r>
              <a:rPr sz="975">
                <a:solidFill>
                  <a:srgbClr val="C8BED8"/>
                </a:solidFill>
              </a:rPr>
              <a:t>Beginner to Expert depth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9B49B-F673-461A-9577-25DAEAA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A3FF"/>
                </a:solidFill>
              </a:defRPr>
            </a:pPr>
            <a:r>
              <a:rPr sz="1500">
                <a:solidFill>
                  <a:srgbClr val="B9A3FF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4DCAF-DE78-4B32-A88B-DF46873A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48100"/>
            <a:ext cx="16764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113F"/>
          </a:solidFill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E9C26-8325-4A9B-A30A-65B9C5D7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03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A3FF"/>
                </a:solidFill>
              </a:defRPr>
            </a:pPr>
            <a:r>
              <a:rPr sz="975" b="1">
                <a:solidFill>
                  <a:srgbClr val="B9A3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6F3E5A-0EB4-4835-BB8F-85E07CB4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3434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E"/>
                </a:solidFill>
              </a:defRPr>
            </a:pPr>
            <a:r>
              <a:rPr sz="1500" b="1">
                <a:solidFill>
                  <a:srgbClr val="FFFDFE"/>
                </a:solidFill>
              </a:rPr>
              <a:t>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D99E4F-3359-4813-9D8E-08F2BD1C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6672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BED8"/>
                </a:solidFill>
              </a:defRPr>
            </a:pPr>
            <a:r>
              <a:rPr sz="975">
                <a:solidFill>
                  <a:srgbClr val="C8BED8"/>
                </a:solidFill>
              </a:rPr>
              <a:t>Test understanding when 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C46825-A8F9-4315-8C1B-F8027D38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243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A3FF"/>
                </a:solidFill>
              </a:defRPr>
            </a:pPr>
            <a:r>
              <a:rPr sz="1500">
                <a:solidFill>
                  <a:srgbClr val="B9A3FF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8F0CEE-8E64-4213-BCE6-CEF0B43B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48100"/>
            <a:ext cx="16764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113F"/>
          </a:solidFill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EFE97F-969A-4279-BFD3-918ABC90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3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A3FF"/>
                </a:solidFill>
              </a:defRPr>
            </a:pPr>
            <a:r>
              <a:rPr sz="975" b="1">
                <a:solidFill>
                  <a:srgbClr val="B9A3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312C2F-53EA-46D7-BD6A-BD648A90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E"/>
                </a:solidFill>
              </a:defRPr>
            </a:pPr>
            <a:r>
              <a:rPr sz="1500" b="1">
                <a:solidFill>
                  <a:srgbClr val="FFFDFE"/>
                </a:solidFill>
              </a:rPr>
              <a:t>Remember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903E29-9A0C-4BB8-8839-69A9EFF5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BED8"/>
                </a:solidFill>
              </a:defRPr>
            </a:pPr>
            <a:r>
              <a:rPr sz="975">
                <a:solidFill>
                  <a:srgbClr val="C8BED8"/>
                </a:solidFill>
              </a:rPr>
              <a:t>History, study, and progress</a:t>
            </a:r>
          </a:p>
        </p:txBody>
      </p:sp>
    </p:spTree>
    <p:extLst>
      <p:ext uri="{BB962C8B-B14F-4D97-AF65-F5344CB8AC3E}">
        <p14:creationId xmlns:p14="http://schemas.microsoft.com/office/powerpoint/2010/main" val="3946146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0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C4284D-900E-4F7A-9770-134F1E5D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A3FF"/>
                </a:solidFill>
              </a:defRPr>
            </a:pPr>
            <a:r>
              <a:rPr sz="900" b="1">
                <a:solidFill>
                  <a:srgbClr val="B9A3FF"/>
                </a:solidFill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35B1D-EAD0-4280-8E33-B5EB2931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BED8"/>
                </a:solidFill>
              </a:defRPr>
            </a:pPr>
            <a:r>
              <a:rPr sz="900" b="1">
                <a:solidFill>
                  <a:srgbClr val="C8BED8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AF855-A1B1-439C-9D6F-DF074C7A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88E2FF59-AE72-4012-90CE-3AF964AE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DFE"/>
                </a:solidFill>
              </a:defRPr>
            </a:pPr>
            <a:r>
              <a:rPr sz="3300" b="1">
                <a:solidFill>
                  <a:srgbClr val="FFFDFE"/>
                </a:solidFill>
              </a:rPr>
              <a:t>One calm companion app.</a:t>
            </a:r>
          </a:p>
          <a:p xmlns:a="http://schemas.openxmlformats.org/drawingml/2006/main">
            <a:pPr>
              <a:defRPr sz="3300" b="1">
                <a:solidFill>
                  <a:srgbClr val="FFFDFE"/>
                </a:solidFill>
              </a:defRPr>
            </a:pPr>
            <a:r>
              <a:rPr sz="3300" b="1">
                <a:solidFill>
                  <a:srgbClr val="FFFDFE"/>
                </a:solidFill>
              </a:rPr>
              <a:t>Five places to keep learning moving.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AA9B4206-24D8-4601-9213-0C40F96B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8BED8"/>
                </a:solidFill>
              </a:defRPr>
            </a:pPr>
            <a:r>
              <a:rPr sz="1500">
                <a:solidFill>
                  <a:srgbClr val="C8BED8"/>
                </a:solidFill>
              </a:rPr>
              <a:t>The product is not another code generator. It is the layer that makes AI-assisted work understandable and memorable.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60b61d25449ae"/>
          <a:srcRect xmlns:a="http://schemas.openxmlformats.org/drawingml/2006/main" l="0" t="7553" r="0" b="75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1123950"/>
            <a:ext cx="428625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FA752-A865-488B-8F98-88B26EFD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A3FF"/>
                </a:solidFill>
              </a:defRPr>
            </a:pPr>
            <a:r>
              <a:rPr sz="900" b="1">
                <a:solidFill>
                  <a:srgbClr val="B9A3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9D0F6-F785-45C0-9C63-E329BC03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DFE"/>
                </a:solidFill>
              </a:defRPr>
            </a:pPr>
            <a:r>
              <a:rPr sz="1350" b="1">
                <a:solidFill>
                  <a:srgbClr val="FFFDFE"/>
                </a:solidFill>
              </a:rPr>
              <a:t>Study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74901-3017-48EA-9B10-A0E4CDBE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385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8BED8"/>
                </a:solidFill>
              </a:defRPr>
            </a:pPr>
            <a:r>
              <a:rPr sz="1125">
                <a:solidFill>
                  <a:srgbClr val="C8BED8"/>
                </a:solidFill>
              </a:rPr>
              <a:t>Revisit what needs attention.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D6F9F-0A6C-41F1-91DD-9269C825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A3FF"/>
                </a:solidFill>
              </a:defRPr>
            </a:pPr>
            <a:r>
              <a:rPr sz="900" b="1">
                <a:solidFill>
                  <a:srgbClr val="B9A3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46996-C15A-4F99-A336-3C3ABAA0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DFE"/>
                </a:solidFill>
              </a:defRPr>
            </a:pPr>
            <a:r>
              <a:rPr sz="1350" b="1">
                <a:solidFill>
                  <a:srgbClr val="FFFDFE"/>
                </a:solidFill>
              </a:rPr>
              <a:t>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FD216-9148-4ABA-8C6D-653E5DD1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814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8BED8"/>
                </a:solidFill>
              </a:defRPr>
            </a:pPr>
            <a:r>
              <a:rPr sz="1125">
                <a:solidFill>
                  <a:srgbClr val="C8BED8"/>
                </a:solidFill>
              </a:rPr>
              <a:t>See the work you actually learned from.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B11AB-9EB3-4E3C-8EF8-740DDC3F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A3FF"/>
                </a:solidFill>
              </a:defRPr>
            </a:pPr>
            <a:r>
              <a:rPr sz="900" b="1">
                <a:solidFill>
                  <a:srgbClr val="B9A3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FDF17-3C10-4322-AD08-C7326952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DFE"/>
                </a:solidFill>
              </a:defRPr>
            </a:pPr>
            <a:r>
              <a:rPr sz="1350" b="1">
                <a:solidFill>
                  <a:srgbClr val="FFFDFE"/>
                </a:solidFill>
              </a:rPr>
              <a:t>Quiz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2FDB1-9AD0-4C4F-869D-4685FAB0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243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8BED8"/>
                </a:solidFill>
              </a:defRPr>
            </a:pPr>
            <a:r>
              <a:rPr sz="1125">
                <a:solidFill>
                  <a:srgbClr val="C8BED8"/>
                </a:solidFill>
              </a:rPr>
              <a:t>Test understanding inside real explanations.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C17E8-4B73-4A35-942F-1680AAE1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A3FF"/>
                </a:solidFill>
              </a:defRPr>
            </a:pPr>
            <a:r>
              <a:rPr sz="900" b="1">
                <a:solidFill>
                  <a:srgbClr val="B9A3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CF6FD-8BA4-4218-81C3-90522417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DFE"/>
                </a:solidFill>
              </a:defRPr>
            </a:pPr>
            <a:r>
              <a:rPr sz="1350" b="1">
                <a:solidFill>
                  <a:srgbClr val="FFFDFE"/>
                </a:solidFill>
              </a:rPr>
              <a:t>Progress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4E9FD-7D4C-4D69-8917-AF6CFEE8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672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8BED8"/>
                </a:solidFill>
              </a:defRPr>
            </a:pPr>
            <a:r>
              <a:rPr sz="1125">
                <a:solidFill>
                  <a:srgbClr val="C8BED8"/>
                </a:solidFill>
              </a:rPr>
              <a:t>Track cautious evidence and streaks.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896E6-4F4C-41AA-BE30-470A7562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A3FF"/>
                </a:solidFill>
              </a:defRPr>
            </a:pPr>
            <a:r>
              <a:rPr sz="900" b="1">
                <a:solidFill>
                  <a:srgbClr val="B9A3FF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F0D3F-7BC6-432E-A44C-DD0E7E24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911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DFE"/>
                </a:solidFill>
              </a:defRPr>
            </a:pPr>
            <a:r>
              <a:rPr sz="1350" b="1">
                <a:solidFill>
                  <a:srgbClr val="FFFDFE"/>
                </a:solidFill>
              </a:rPr>
              <a:t>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3ADD6C-56E1-4FA1-AD2B-74529D1D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10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8BED8"/>
                </a:solidFill>
              </a:defRPr>
            </a:pPr>
            <a:r>
              <a:rPr sz="1125">
                <a:solidFill>
                  <a:srgbClr val="C8BED8"/>
                </a:solidFill>
              </a:rPr>
              <a:t>Manage Free, Pro, or Teams.</a:t>
            </a:r>
          </a:p>
        </p:txBody>
      </p:sp>
    </p:spTree>
    <p:extLst>
      <p:ext uri="{BB962C8B-B14F-4D97-AF65-F5344CB8AC3E}">
        <p14:creationId xmlns:p14="http://schemas.microsoft.com/office/powerpoint/2010/main" val="934469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0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67654-0CFB-4B43-A991-56450FA9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A3FF"/>
                </a:solidFill>
              </a:defRPr>
            </a:pPr>
            <a:r>
              <a:rPr sz="900" b="1">
                <a:solidFill>
                  <a:srgbClr val="B9A3FF"/>
                </a:solidFill>
              </a:rPr>
              <a:t>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B1E62-CA55-4C43-A871-B8A58F04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BED8"/>
                </a:solidFill>
              </a:defRPr>
            </a:pPr>
            <a:r>
              <a:rPr sz="900" b="1">
                <a:solidFill>
                  <a:srgbClr val="C8BED8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6E448-314F-4657-9533-01AEBEDA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9F5B920C-AAE0-429A-B3C5-3B1925EB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DFE"/>
                </a:solidFill>
              </a:defRPr>
            </a:pPr>
            <a:r>
              <a:rPr sz="3300" b="1">
                <a:solidFill>
                  <a:srgbClr val="FFFDFE"/>
                </a:solidFill>
              </a:rPr>
              <a:t>Privacy is part of the product architecture, not a settings afterthought.</a:t>
            </a:r>
          </a:p>
        </p:txBody>
      </p:sp>
      <p:sp>
        <p:nvSpPr>
          <p:cNvPr id="5" name="body-5">
            <a:extLst xmlns:a="http://schemas.openxmlformats.org/drawingml/2006/main">
              <a:ext uri="{FF2B5EF4-FFF2-40B4-BE49-F238E27FC236}">
                <a16:creationId xmlns:a16="http://schemas.microsoft.com/office/drawing/2014/main" id="{DF74E52B-02C3-4820-AFFF-77351B08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8BED8"/>
                </a:solidFill>
              </a:defRPr>
            </a:pPr>
            <a:r>
              <a:rPr sz="1500">
                <a:solidFill>
                  <a:srgbClr val="C8BED8"/>
                </a:solidFill>
              </a:rPr>
              <a:t>Unvibe is designed so private repository content is handled deliberately before any approved cloud analysis.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46253-3164-48AF-91A2-C9176AF3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3143250" cy="1657350"/>
          </a:xfrm>
          <a:prstGeom xmlns:a="http://schemas.openxmlformats.org/drawingml/2006/main" prst="roundRect">
            <a:avLst>
              <a:gd name="adj" fmla="val 14943"/>
            </a:avLst>
          </a:prstGeom>
          <a:solidFill xmlns:a="http://schemas.openxmlformats.org/drawingml/2006/main">
            <a:srgbClr val="21113F"/>
          </a:solidFill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EC019-F3D6-424C-AD92-364EAB78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A3FF"/>
                </a:solidFill>
              </a:defRPr>
            </a:pPr>
            <a:r>
              <a:rPr sz="1050" b="1">
                <a:solidFill>
                  <a:srgbClr val="B9A3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5CA96-30F2-4EF0-AFC1-39BB42E1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E"/>
                </a:solidFill>
              </a:defRPr>
            </a:pPr>
            <a:r>
              <a:rPr sz="1650" b="1">
                <a:solidFill>
                  <a:srgbClr val="FFFDFE"/>
                </a:solidFill>
              </a:rPr>
              <a:t>Filter locally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BE022-3F51-43E8-BC59-66E38302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8BED8"/>
                </a:solidFill>
              </a:defRPr>
            </a:pPr>
            <a:r>
              <a:rPr sz="1125">
                <a:solidFill>
                  <a:srgbClr val="C8BED8"/>
                </a:solidFill>
              </a:rPr>
              <a:t>Secrets, env files, keys, ignored folders, and binaries are excluded before a remote request.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EDFC9-C40C-4528-A0B5-86BBCBAB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3143250" cy="1657350"/>
          </a:xfrm>
          <a:prstGeom xmlns:a="http://schemas.openxmlformats.org/drawingml/2006/main" prst="roundRect">
            <a:avLst>
              <a:gd name="adj" fmla="val 14943"/>
            </a:avLst>
          </a:prstGeom>
          <a:solidFill xmlns:a="http://schemas.openxmlformats.org/drawingml/2006/main">
            <a:srgbClr val="3A2169"/>
          </a:solidFill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710E2-8C33-4912-874F-53079138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A3FF"/>
                </a:solidFill>
              </a:defRPr>
            </a:pPr>
            <a:r>
              <a:rPr sz="1050" b="1">
                <a:solidFill>
                  <a:srgbClr val="B9A3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30F0D-D2E9-484D-B69C-3643DB7A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E"/>
                </a:solidFill>
              </a:defRPr>
            </a:pPr>
            <a:r>
              <a:rPr sz="1650" b="1">
                <a:solidFill>
                  <a:srgbClr val="FFFDFE"/>
                </a:solidFill>
              </a:rPr>
              <a:t>Preview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5C3FA-5DEF-48AD-A182-4274B53F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8BED8"/>
                </a:solidFill>
              </a:defRPr>
            </a:pPr>
            <a:r>
              <a:rPr sz="1125">
                <a:solidFill>
                  <a:srgbClr val="C8BED8"/>
                </a:solidFill>
              </a:rPr>
              <a:t>Per-repository consent makes it clear what context is approved for explanation.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78A39-62BE-496A-AD21-34CE153D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3143250" cy="1657350"/>
          </a:xfrm>
          <a:prstGeom xmlns:a="http://schemas.openxmlformats.org/drawingml/2006/main" prst="roundRect">
            <a:avLst>
              <a:gd name="adj" fmla="val 14943"/>
            </a:avLst>
          </a:prstGeom>
          <a:solidFill xmlns:a="http://schemas.openxmlformats.org/drawingml/2006/main">
            <a:srgbClr val="21113F"/>
          </a:solidFill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85CCA-5B12-4D7E-823B-3177D0B8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576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A3FF"/>
                </a:solidFill>
              </a:defRPr>
            </a:pPr>
            <a:r>
              <a:rPr sz="1050" b="1">
                <a:solidFill>
                  <a:srgbClr val="B9A3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B51BF-C42D-412E-AD9B-1638BE42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81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E"/>
                </a:solidFill>
              </a:defRPr>
            </a:pPr>
            <a:r>
              <a:rPr sz="1650" b="1">
                <a:solidFill>
                  <a:srgbClr val="FFFDFE"/>
                </a:solidFill>
              </a:rPr>
              <a:t>Keep boundaries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A05C0-B73D-406C-93EE-D4BAD74B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624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8BED8"/>
                </a:solidFill>
              </a:defRPr>
            </a:pPr>
            <a:r>
              <a:rPr sz="1125">
                <a:solidFill>
                  <a:srgbClr val="C8BED8"/>
                </a:solidFill>
              </a:rPr>
              <a:t>The backend never reads the repository. Users retain control over what leaves their machine.</a:t>
            </a:r>
          </a:p>
        </p:txBody>
      </p:sp>
    </p:spTree>
    <p:extLst>
      <p:ext uri="{BB962C8B-B14F-4D97-AF65-F5344CB8AC3E}">
        <p14:creationId xmlns:p14="http://schemas.microsoft.com/office/powerpoint/2010/main" val="1421088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0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5A81B3-AE40-421D-BF9A-30D413A4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A3FF"/>
                </a:solidFill>
              </a:defRPr>
            </a:pPr>
            <a:r>
              <a:rPr sz="900" b="1">
                <a:solidFill>
                  <a:srgbClr val="B9A3FF"/>
                </a:solidFill>
              </a:rPr>
              <a:t>LEARNING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1E3A9-599A-4B65-B3B8-D1EF1FC3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BED8"/>
                </a:solidFill>
              </a:defRPr>
            </a:pPr>
            <a:r>
              <a:rPr sz="900" b="1">
                <a:solidFill>
                  <a:srgbClr val="C8BED8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01B7B-033F-4A49-86D2-1F8B1EF7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2F87B689-8613-4B2C-8277-BE647806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DFE"/>
                </a:solidFill>
              </a:defRPr>
            </a:pPr>
            <a:r>
              <a:rPr sz="3300" b="1">
                <a:solidFill>
                  <a:srgbClr val="FFFDFE"/>
                </a:solidFill>
              </a:rPr>
              <a:t>Learning compounds when it is connected to real work.</a:t>
            </a:r>
          </a:p>
        </p:txBody>
      </p:sp>
      <p:sp>
        <p:nvSpPr>
          <p:cNvPr id="5" name="body-6">
            <a:extLst xmlns:a="http://schemas.openxmlformats.org/drawingml/2006/main">
              <a:ext uri="{FF2B5EF4-FFF2-40B4-BE49-F238E27FC236}">
                <a16:creationId xmlns:a16="http://schemas.microsoft.com/office/drawing/2014/main" id="{183E3E86-A345-4C0C-9ECC-D6F105C0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8BED8"/>
                </a:solidFill>
              </a:defRPr>
            </a:pPr>
            <a:r>
              <a:rPr sz="1500">
                <a:solidFill>
                  <a:srgbClr val="C8BED8"/>
                </a:solidFill>
              </a:rPr>
              <a:t>Unvibe records activity, concepts, and comprehension signals so a developer can build understanding over time without invented mastery scores.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D5F7F-77EE-4ED6-BE4B-3D37F90E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0820400" cy="1428750"/>
          </a:xfrm>
          <a:prstGeom xmlns:a="http://schemas.openxmlformats.org/drawingml/2006/main" prst="roundRect">
            <a:avLst>
              <a:gd name="adj" fmla="val 18667"/>
            </a:avLst>
          </a:prstGeom>
          <a:solidFill xmlns:a="http://schemas.openxmlformats.org/drawingml/2006/main">
            <a:srgbClr val="21113F"/>
          </a:solidFill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97210-72AA-440C-AE4A-99647A54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DFE"/>
                </a:solidFill>
              </a:defRPr>
            </a:pPr>
            <a:r>
              <a:rPr sz="1575" b="1">
                <a:solidFill>
                  <a:srgbClr val="FFFDFE"/>
                </a:solidFill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CBFFA-C99B-41E0-A519-37F7176E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8BED8"/>
                </a:solidFill>
              </a:defRPr>
            </a:pPr>
            <a:r>
              <a:rPr sz="1125">
                <a:solidFill>
                  <a:srgbClr val="C8BED8"/>
                </a:solidFill>
              </a:rPr>
              <a:t>What this change does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C1672-48B7-444D-A6D1-BE29659E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90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A3FF"/>
                </a:solidFill>
              </a:defRPr>
            </a:pPr>
            <a:r>
              <a:rPr sz="1500">
                <a:solidFill>
                  <a:srgbClr val="B9A3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1900F-0991-44D3-9A9D-327B0B03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95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DFE"/>
                </a:solidFill>
              </a:defRPr>
            </a:pPr>
            <a:r>
              <a:rPr sz="1575" b="1">
                <a:solidFill>
                  <a:srgbClr val="FFFDFE"/>
                </a:solidFill>
              </a:rPr>
              <a:t>Choose depth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0743E-6CFD-4FD1-AA06-318088E3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57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8BED8"/>
                </a:solidFill>
              </a:defRPr>
            </a:pPr>
            <a:r>
              <a:rPr sz="1125">
                <a:solidFill>
                  <a:srgbClr val="C8BED8"/>
                </a:solidFill>
              </a:rPr>
              <a:t>New to Expert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123EB-8D78-40CC-A5A1-C28637B8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90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A3FF"/>
                </a:solidFill>
              </a:defRPr>
            </a:pPr>
            <a:r>
              <a:rPr sz="1500">
                <a:solidFill>
                  <a:srgbClr val="B9A3F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778E7-09AB-4306-B0E2-291D91D7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95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A2E8"/>
                </a:solidFill>
              </a:defRPr>
            </a:pPr>
            <a:r>
              <a:rPr sz="1575" b="1">
                <a:solidFill>
                  <a:srgbClr val="F2A2E8"/>
                </a:solidFill>
              </a:rPr>
              <a:t>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B9D29-FA74-4C65-AABE-9A439D90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57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8BED8"/>
                </a:solidFill>
              </a:defRPr>
            </a:pPr>
            <a:r>
              <a:rPr sz="1125">
                <a:solidFill>
                  <a:srgbClr val="C8BED8"/>
                </a:solidFill>
              </a:rPr>
              <a:t>One meaningful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46912-A2A7-45F4-9FAA-6BF0B4E6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90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A3FF"/>
                </a:solidFill>
              </a:defRPr>
            </a:pPr>
            <a:r>
              <a:rPr sz="1500">
                <a:solidFill>
                  <a:srgbClr val="B9A3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8761C-A33E-4840-82AB-B2CC16C5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95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DFE"/>
                </a:solidFill>
              </a:defRPr>
            </a:pPr>
            <a:r>
              <a:rPr sz="1575" b="1">
                <a:solidFill>
                  <a:srgbClr val="FFFDFE"/>
                </a:solidFill>
              </a:rPr>
              <a:t>Save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EF289-0A3B-44B2-ADCC-DECE6C63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8BED8"/>
                </a:solidFill>
              </a:defRPr>
            </a:pPr>
            <a:r>
              <a:rPr sz="1125">
                <a:solidFill>
                  <a:srgbClr val="C8BED8"/>
                </a:solidFill>
              </a:rPr>
              <a:t>History and snippets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C394A-DFC3-4D87-A7F2-9279457B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90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A3FF"/>
                </a:solidFill>
              </a:defRPr>
            </a:pPr>
            <a:r>
              <a:rPr sz="1500">
                <a:solidFill>
                  <a:srgbClr val="B9A3F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BD919-EB7B-4739-9488-2931D3F1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95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DFE"/>
                </a:solidFill>
              </a:defRPr>
            </a:pPr>
            <a:r>
              <a:rPr sz="1575" b="1">
                <a:solidFill>
                  <a:srgbClr val="FFFDFE"/>
                </a:solidFill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D00F5-E27C-4A22-8E39-FF6009DB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57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8BED8"/>
                </a:solidFill>
              </a:defRPr>
            </a:pPr>
            <a:r>
              <a:rPr sz="1125">
                <a:solidFill>
                  <a:srgbClr val="C8BED8"/>
                </a:solidFill>
              </a:rPr>
              <a:t>Needs-review 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CBAAA-750C-4E83-B988-40D2691B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A3FF"/>
                </a:solidFill>
              </a:defRPr>
            </a:pPr>
            <a:r>
              <a:rPr sz="1950" b="1">
                <a:solidFill>
                  <a:srgbClr val="B9A3FF"/>
                </a:solidFill>
              </a:rPr>
              <a:t>The result: better verification today, stronger technical judgment tomorrow.</a:t>
            </a:r>
          </a:p>
        </p:txBody>
      </p:sp>
    </p:spTree>
    <p:extLst>
      <p:ext uri="{BB962C8B-B14F-4D97-AF65-F5344CB8AC3E}">
        <p14:creationId xmlns:p14="http://schemas.microsoft.com/office/powerpoint/2010/main" val="1973585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0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68E27-0E9E-48D1-B65A-952AF00C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A3FF"/>
                </a:solidFill>
              </a:defRPr>
            </a:pPr>
            <a:r>
              <a:rPr sz="900" b="1">
                <a:solidFill>
                  <a:srgbClr val="B9A3FF"/>
                </a:solidFill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003BE-3BD2-4031-AA4A-F1E07394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BED8"/>
                </a:solidFill>
              </a:defRPr>
            </a:pPr>
            <a:r>
              <a:rPr sz="900" b="1">
                <a:solidFill>
                  <a:srgbClr val="C8BED8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BF542-66D8-496F-BCDE-C530D73E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F4A2A6C5-BD49-446C-9994-3EFCDE87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DFE"/>
                </a:solidFill>
              </a:defRPr>
            </a:pPr>
            <a:r>
              <a:rPr sz="3300" b="1">
                <a:solidFill>
                  <a:srgbClr val="FFFDFE"/>
                </a:solidFill>
              </a:rPr>
              <a:t>A simple model that earns trust before it earns revenue.</a:t>
            </a:r>
          </a:p>
        </p:txBody>
      </p:sp>
      <p:sp>
        <p:nvSpPr>
          <p:cNvPr id="5" name="body-7">
            <a:extLst xmlns:a="http://schemas.openxmlformats.org/drawingml/2006/main">
              <a:ext uri="{FF2B5EF4-FFF2-40B4-BE49-F238E27FC236}">
                <a16:creationId xmlns:a16="http://schemas.microsoft.com/office/drawing/2014/main" id="{444A9FA6-6985-4E07-9DB1-2511BA41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8BED8"/>
                </a:solidFill>
              </a:defRPr>
            </a:pPr>
            <a:r>
              <a:rPr sz="1500">
                <a:solidFill>
                  <a:srgbClr val="C8BED8"/>
                </a:solidFill>
              </a:rPr>
              <a:t>Free removes the API-key and payment barrier. Paid plans expand capacity, advanced learning, and shared team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507F3-231F-4D8B-86C7-D8B0C595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3200400" cy="2114550"/>
          </a:xfrm>
          <a:prstGeom xmlns:a="http://schemas.openxmlformats.org/drawingml/2006/main" prst="roundRect">
            <a:avLst>
              <a:gd name="adj" fmla="val 11712"/>
            </a:avLst>
          </a:prstGeom>
          <a:solidFill xmlns:a="http://schemas.openxmlformats.org/drawingml/2006/main">
            <a:srgbClr val="21113F"/>
          </a:solidFill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5E006-FFF3-4B00-99B4-962527B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E"/>
                </a:solidFill>
              </a:defRPr>
            </a:pPr>
            <a:r>
              <a:rPr sz="1650" b="1">
                <a:solidFill>
                  <a:srgbClr val="FFFDFE"/>
                </a:solidFill>
              </a:rPr>
              <a:t>Free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CC6B9-4AF9-4545-8F17-5E87A81C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DFE"/>
                </a:solidFill>
              </a:defRPr>
            </a:pPr>
            <a:r>
              <a:rPr sz="2250" b="1">
                <a:solidFill>
                  <a:srgbClr val="FFFDFE"/>
                </a:solidFill>
              </a:rPr>
              <a:t>$0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C8497-9289-4B76-946E-9D98B9C5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30 explanations/month</a:t>
            </a:r>
          </a:p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1 active project</a:t>
            </a:r>
          </a:p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Saved learning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61C70-75F8-4EBE-A127-87BD6CC4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6600"/>
            <a:ext cx="3200400" cy="2114550"/>
          </a:xfrm>
          <a:prstGeom xmlns:a="http://schemas.openxmlformats.org/drawingml/2006/main" prst="roundRect">
            <a:avLst>
              <a:gd name="adj" fmla="val 11712"/>
            </a:avLst>
          </a:prstGeom>
          <a:solidFill xmlns:a="http://schemas.openxmlformats.org/drawingml/2006/main">
            <a:srgbClr val="4A2A80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CF6AC-C368-46F0-AFAB-A21252CE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E"/>
                </a:solidFill>
              </a:defRPr>
            </a:pPr>
            <a:r>
              <a:rPr sz="1650" b="1">
                <a:solidFill>
                  <a:srgbClr val="FFFDFE"/>
                </a:solidFill>
              </a:rPr>
              <a:t>Pro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E5BA0-DE61-49F5-95E1-2EB688B2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A2E8"/>
                </a:solidFill>
              </a:defRPr>
            </a:pPr>
            <a:r>
              <a:rPr sz="2250" b="1">
                <a:solidFill>
                  <a:srgbClr val="F2A2E8"/>
                </a:solidFill>
              </a:rPr>
              <a:t>$8/mo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C5B91-B0D0-4590-81EC-F9913B3B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958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$96/year</a:t>
            </a:r>
          </a:p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Higher limits</a:t>
            </a:r>
          </a:p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Advanced learning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E388E-17E4-442E-AD06-56ECC5D7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76600"/>
            <a:ext cx="3200400" cy="2114550"/>
          </a:xfrm>
          <a:prstGeom xmlns:a="http://schemas.openxmlformats.org/drawingml/2006/main" prst="roundRect">
            <a:avLst>
              <a:gd name="adj" fmla="val 11712"/>
            </a:avLst>
          </a:prstGeom>
          <a:solidFill xmlns:a="http://schemas.openxmlformats.org/drawingml/2006/main">
            <a:srgbClr val="21113F"/>
          </a:solidFill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6A3EC-4DED-4AE5-97B6-2B12CFF2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E"/>
                </a:solidFill>
              </a:defRPr>
            </a:pPr>
            <a:r>
              <a:rPr sz="1650" b="1">
                <a:solidFill>
                  <a:srgbClr val="FFFDFE"/>
                </a:solidFill>
              </a:rPr>
              <a:t>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1BEC7-80BC-42CB-8600-77FA393A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624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DFE"/>
                </a:solidFill>
              </a:defRPr>
            </a:pPr>
            <a:r>
              <a:rPr sz="2250" b="1">
                <a:solidFill>
                  <a:srgbClr val="FFFDFE"/>
                </a:solidFill>
              </a:rPr>
              <a:t>$8/member/mo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B22CA-683F-449B-8F20-A5659973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958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2-seat minimum</a:t>
            </a:r>
          </a:p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Shared workspaces</a:t>
            </a:r>
          </a:p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Roles and centralized billing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F27E7-6D05-49B4-AEA2-73CD8E2B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8BED8"/>
                </a:solidFill>
              </a:defRPr>
            </a:pPr>
            <a:r>
              <a:rPr sz="1050">
                <a:solidFill>
                  <a:srgbClr val="C8BED8"/>
                </a:solidFill>
              </a:rPr>
              <a:t>Test-mode billing only until approved production configuration is in place.</a:t>
            </a:r>
          </a:p>
        </p:txBody>
      </p:sp>
    </p:spTree>
    <p:extLst>
      <p:ext uri="{BB962C8B-B14F-4D97-AF65-F5344CB8AC3E}">
        <p14:creationId xmlns:p14="http://schemas.microsoft.com/office/powerpoint/2010/main" val="7414057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0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0CD6A-47ED-44B6-AD2C-A4D745FE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A3FF"/>
                </a:solidFill>
              </a:defRPr>
            </a:pPr>
            <a:r>
              <a:rPr sz="900" b="1">
                <a:solidFill>
                  <a:srgbClr val="B9A3FF"/>
                </a:solidFill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467D6-57A0-4B0E-A2C9-5CAE0321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BED8"/>
                </a:solidFill>
              </a:defRPr>
            </a:pPr>
            <a:r>
              <a:rPr sz="900" b="1">
                <a:solidFill>
                  <a:srgbClr val="C8BED8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08EC1-428B-4DEC-91DC-0A3BA2EE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17E6982A-64A7-4B99-8BF5-6C85B9B8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DFE"/>
                </a:solidFill>
              </a:defRPr>
            </a:pPr>
            <a:r>
              <a:rPr sz="3300" b="1">
                <a:solidFill>
                  <a:srgbClr val="FFFDFE"/>
                </a:solidFill>
              </a:rPr>
              <a:t>The beta is designed to learn where understanding breaks down.</a:t>
            </a:r>
          </a:p>
        </p:txBody>
      </p:sp>
      <p:sp>
        <p:nvSpPr>
          <p:cNvPr id="5" name="body-8">
            <a:extLst xmlns:a="http://schemas.openxmlformats.org/drawingml/2006/main">
              <a:ext uri="{FF2B5EF4-FFF2-40B4-BE49-F238E27FC236}">
                <a16:creationId xmlns:a16="http://schemas.microsoft.com/office/drawing/2014/main" id="{EB506331-1D90-4DFA-A95F-729EEA95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8BED8"/>
                </a:solidFill>
              </a:defRPr>
            </a:pPr>
            <a:r>
              <a:rPr sz="1500">
                <a:solidFill>
                  <a:srgbClr val="C8BED8"/>
                </a:solidFill>
              </a:rPr>
              <a:t>The initial go-to-market is intentionally focused: people already using AI coding tools who want to stay accountable for the code they 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BCB62-1DDE-4630-93C8-8120547B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88CEF-4947-4D4A-A197-8B23FC1A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E"/>
                </a:solidFill>
              </a:defRPr>
            </a:pPr>
            <a:r>
              <a:rPr sz="1650" b="1">
                <a:solidFill>
                  <a:srgbClr val="FFFDFE"/>
                </a:solidFill>
              </a:rPr>
              <a:t>Private beta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65C06-136E-4766-82A9-C181DA73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Invite early builders who use AI coding tools every day and can share high-signal workflow feedback.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8D902-CD60-48F4-BC48-D5CF96DB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3492D-F506-47DE-A8BE-C33E7ABB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E"/>
                </a:solidFill>
              </a:defRPr>
            </a:pPr>
            <a:r>
              <a:rPr sz="1650" b="1">
                <a:solidFill>
                  <a:srgbClr val="FFFDFE"/>
                </a:solidFill>
              </a:rPr>
              <a:t>Prove the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ABE37-DD0F-4BC6-B798-06CA0652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Measure whether explanations, checks, and review queues create repeat learning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27749-0CB7-40F9-B5CB-A2447447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CF18C-252D-4CFE-B212-A2B811D4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E"/>
                </a:solidFill>
              </a:defRPr>
            </a:pPr>
            <a:r>
              <a:rPr sz="1650" b="1">
                <a:solidFill>
                  <a:srgbClr val="FFFDFE"/>
                </a:solidFill>
              </a:rPr>
              <a:t>Expand responsibly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A5B37-D224-4E7A-AAFC-9BAC518C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38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BED8"/>
                </a:solidFill>
              </a:defRPr>
            </a:pPr>
            <a:r>
              <a:rPr sz="1200">
                <a:solidFill>
                  <a:srgbClr val="C8BED8"/>
                </a:solidFill>
              </a:rPr>
              <a:t>Add team workflows after the individual learning loop is trusted, reliable, and privacy-safe.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B11A9-0833-442F-8603-F75FF275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A3FF"/>
                </a:solidFill>
              </a:defRPr>
            </a:pPr>
            <a:r>
              <a:rPr sz="1200" b="1">
                <a:solidFill>
                  <a:srgbClr val="B9A3FF"/>
                </a:solidFill>
              </a:rPr>
              <a:t>No public download claim until a real signed build is ready.</a:t>
            </a:r>
          </a:p>
        </p:txBody>
      </p:sp>
    </p:spTree>
    <p:extLst>
      <p:ext uri="{BB962C8B-B14F-4D97-AF65-F5344CB8AC3E}">
        <p14:creationId xmlns:p14="http://schemas.microsoft.com/office/powerpoint/2010/main" val="13407329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0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709C5-B5D4-4730-AB2F-27257280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A3FF"/>
                </a:solidFill>
              </a:defRPr>
            </a:pPr>
            <a:r>
              <a:rPr sz="900" b="1">
                <a:solidFill>
                  <a:srgbClr val="B9A3FF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90757-C48E-49DA-83BA-290F417A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BED8"/>
                </a:solidFill>
              </a:defRPr>
            </a:pPr>
            <a:r>
              <a:rPr sz="900" b="1">
                <a:solidFill>
                  <a:srgbClr val="C8BED8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B91A8-6940-49FE-A267-01171536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A4019DA6-760B-40A7-8A4B-EA5DA4D9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DFE"/>
                </a:solidFill>
              </a:defRPr>
            </a:pPr>
            <a:r>
              <a:rPr sz="3300" b="1">
                <a:solidFill>
                  <a:srgbClr val="FFFDFE"/>
                </a:solidFill>
              </a:rPr>
              <a:t>What we are building next is depth, not distraction.</a:t>
            </a:r>
          </a:p>
        </p:txBody>
      </p:sp>
      <p:sp>
        <p:nvSpPr>
          <p:cNvPr id="5" name="body-9">
            <a:extLst xmlns:a="http://schemas.openxmlformats.org/drawingml/2006/main">
              <a:ext uri="{FF2B5EF4-FFF2-40B4-BE49-F238E27FC236}">
                <a16:creationId xmlns:a16="http://schemas.microsoft.com/office/drawing/2014/main" id="{5F1DBE06-D31B-4B53-AE40-AEDB53F6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8BED8"/>
                </a:solidFill>
              </a:defRPr>
            </a:pPr>
            <a:r>
              <a:rPr sz="1500">
                <a:solidFill>
                  <a:srgbClr val="C8BED8"/>
                </a:solidFill>
              </a:rPr>
              <a:t>The product roadmap follows the learning loop: make the core experience reliable first, then extend the context and collaboration around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B469D-53DC-44E2-9C72-ADB1FD4A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A3FF"/>
                </a:solidFill>
              </a:defRPr>
            </a:pPr>
            <a:r>
              <a:rPr sz="1350" b="1">
                <a:solidFill>
                  <a:srgbClr val="B9A3FF"/>
                </a:solidFill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EE1A8-B759-4E74-B2A3-8237DDE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671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1DDA5-204B-4DA8-8DB2-0B275BC3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147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DFE"/>
                </a:solidFill>
              </a:defRPr>
            </a:pPr>
            <a:r>
              <a:rPr sz="1350">
                <a:solidFill>
                  <a:srgbClr val="FFFDFE"/>
                </a:solidFill>
              </a:rPr>
              <a:t>Desktop beta, context-aware explanations, comprehension checks, saved learning.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0E367-E179-420D-A512-5C293B2C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A3FF"/>
                </a:solidFill>
              </a:defRPr>
            </a:pPr>
            <a:r>
              <a:rPr sz="1350" b="1">
                <a:solidFill>
                  <a:srgbClr val="B9A3FF"/>
                </a:solidFill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39494-1D99-46DD-AC64-68F6D731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910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E590F-98E4-4F34-B498-5932255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386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DFE"/>
                </a:solidFill>
              </a:defRPr>
            </a:pPr>
            <a:r>
              <a:rPr sz="1350">
                <a:solidFill>
                  <a:srgbClr val="FFFDFE"/>
                </a:solidFill>
              </a:rPr>
              <a:t>Stronger project context, reliable sync, deeper study and review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61AB0-BBCD-451E-865F-B624882D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A3FF"/>
                </a:solidFill>
              </a:defRPr>
            </a:pPr>
            <a:r>
              <a:rPr sz="1350" b="1">
                <a:solidFill>
                  <a:srgbClr val="B9A3FF"/>
                </a:solidFill>
              </a:rPr>
              <a:t>Later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C69A3-AC78-4572-B6A9-6EF4732B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149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35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E312E-11F7-44CF-8124-AC1A312A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625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DFE"/>
                </a:solidFill>
              </a:defRPr>
            </a:pPr>
            <a:r>
              <a:rPr sz="1350">
                <a:solidFill>
                  <a:srgbClr val="FFFDFE"/>
                </a:solidFill>
              </a:rPr>
              <a:t>Teams workspaces, shared knowledge, and Pro capabilities when the underlying entitlement system is proven.</a:t>
            </a:r>
          </a:p>
        </p:txBody>
      </p:sp>
    </p:spTree>
    <p:extLst>
      <p:ext uri="{BB962C8B-B14F-4D97-AF65-F5344CB8AC3E}">
        <p14:creationId xmlns:p14="http://schemas.microsoft.com/office/powerpoint/2010/main" val="3693291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0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8A8DF-E5CC-456C-84F4-B5288AB5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b9c90f6f04305"/>
          <a:stretch xmlns:a="http://schemas.openxmlformats.org/drawingml/2006/main"/>
        </p:blipFill>
        <p:spPr>
          <a:xfrm xmlns:a="http://schemas.openxmlformats.org/drawingml/2006/main">
            <a:off x="685800" y="5715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C0FFC-8669-44D8-8568-4244B442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DFE"/>
                </a:solidFill>
              </a:defRPr>
            </a:pPr>
            <a:r>
              <a:rPr sz="1875" b="1">
                <a:solidFill>
                  <a:srgbClr val="FFFDFE"/>
                </a:solidFill>
              </a:rPr>
              <a:t>unvibe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C32AC-828C-40DB-89D9-48BC53F2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DFE"/>
                </a:solidFill>
              </a:defRPr>
            </a:pPr>
            <a:r>
              <a:rPr sz="4575" b="1">
                <a:solidFill>
                  <a:srgbClr val="FFFDFE"/>
                </a:solidFill>
              </a:rPr>
              <a:t>AI writes the code.</a:t>
            </a:r>
          </a:p>
          <a:p xmlns:a="http://schemas.openxmlformats.org/drawingml/2006/main">
            <a:pPr>
              <a:defRPr sz="4575" b="1">
                <a:solidFill>
                  <a:srgbClr val="FFFDFE"/>
                </a:solidFill>
              </a:defRPr>
            </a:pPr>
            <a:r>
              <a:rPr sz="4575" b="1">
                <a:solidFill>
                  <a:srgbClr val="FFFDFE"/>
                </a:solidFill>
              </a:rPr>
              <a:t>Unvibe helps people</a:t>
            </a:r>
          </a:p>
          <a:p xmlns:a="http://schemas.openxmlformats.org/drawingml/2006/main">
            <a:pPr>
              <a:defRPr sz="4575" b="1">
                <a:solidFill>
                  <a:srgbClr val="FFFDFE"/>
                </a:solidFill>
              </a:defRPr>
            </a:pPr>
            <a:r>
              <a:rPr sz="4575" b="1">
                <a:solidFill>
                  <a:srgbClr val="FFFDFE"/>
                </a:solidFill>
              </a:rPr>
              <a:t>understand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247FF-41D2-4F37-B93A-7111D78E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9A3FF"/>
                </a:solidFill>
              </a:defRPr>
            </a:pPr>
            <a:r>
              <a:rPr sz="1500" b="1">
                <a:solidFill>
                  <a:srgbClr val="B9A3FF"/>
                </a:solidFill>
              </a:rPr>
              <a:t>Private beta · Mac first · Free to join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FEBD5-A8BD-4F0C-9A51-5B71CBE4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19250"/>
            <a:ext cx="3028950" cy="3028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1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E28F5-7944-4EB3-887B-8F673E76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33600"/>
            <a:ext cx="2000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23804-C6D5-450C-BA9D-1814CD51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57475"/>
            <a:ext cx="9525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F73E8-9FB8-404A-B316-9E89A7E1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BED8"/>
                </a:solidFill>
              </a:defRPr>
            </a:pPr>
            <a:r>
              <a:rPr sz="975">
                <a:solidFill>
                  <a:srgbClr val="C8BED8"/>
                </a:solidFill>
              </a:rPr>
              <a:t>unvibe.site</a:t>
            </a:r>
          </a:p>
        </p:txBody>
      </p:sp>
    </p:spTree>
    <p:extLst>
      <p:ext uri="{BB962C8B-B14F-4D97-AF65-F5344CB8AC3E}">
        <p14:creationId xmlns:p14="http://schemas.microsoft.com/office/powerpoint/2010/main" val="2092031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2026-07-16T20:42:59.9550000Z</dcterms:created>
  <dcterms:modified xsi:type="dcterms:W3CDTF">2026-07-16T20:42:59.9550000Z</dcterms:modified>
</coreProperties>
</file>