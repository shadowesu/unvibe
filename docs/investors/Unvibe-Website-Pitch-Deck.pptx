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aaf596aea3445c" /><Relationship Type="http://schemas.openxmlformats.org/officeDocument/2006/relationships/extended-properties" Target="/docProps/app.xml" Id="Rd536774319194908" /><Relationship Type="http://schemas.openxmlformats.org/officeDocument/2006/relationships/officeDocument" Target="/ppt/presentation.xml" Id="Re050947417204c0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392acc23be94d07"/>
  </p:sldMasterIdLst>
  <p:notesMasterIdLst>
    <p:notesMasterId xmlns:r="http://schemas.openxmlformats.org/officeDocument/2006/relationships" r:id="R9e4dd2a68a444063"/>
  </p:notesMasterIdLst>
  <p:sldIdLst>
    <p:sldId xmlns:r="http://schemas.openxmlformats.org/officeDocument/2006/relationships" id="256" r:id="R46c03cae67094494"/>
    <p:sldId xmlns:r="http://schemas.openxmlformats.org/officeDocument/2006/relationships" id="257" r:id="R55a9736eccf74f4f"/>
    <p:sldId xmlns:r="http://schemas.openxmlformats.org/officeDocument/2006/relationships" id="258" r:id="Ra01432e508074c58"/>
    <p:sldId xmlns:r="http://schemas.openxmlformats.org/officeDocument/2006/relationships" id="259" r:id="R7fb94486b58c43b3"/>
    <p:sldId xmlns:r="http://schemas.openxmlformats.org/officeDocument/2006/relationships" id="260" r:id="Rc55342dd97c342d7"/>
    <p:sldId xmlns:r="http://schemas.openxmlformats.org/officeDocument/2006/relationships" id="261" r:id="R59be24c01b2a48cc"/>
    <p:sldId xmlns:r="http://schemas.openxmlformats.org/officeDocument/2006/relationships" id="262" r:id="R87ad2caa171f4592"/>
    <p:sldId xmlns:r="http://schemas.openxmlformats.org/officeDocument/2006/relationships" id="263" r:id="R0f223835af744fa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11225c95a3747a3" /><Relationship Type="http://schemas.openxmlformats.org/officeDocument/2006/relationships/slideMaster" Target="/ppt/slideMasters/slideMaster1.xml" Id="R8392acc23be94d07" /><Relationship Type="http://schemas.openxmlformats.org/officeDocument/2006/relationships/notesMaster" Target="/ppt/notesMasters/notesMaster1.xml" Id="R9e4dd2a68a444063" /><Relationship Type="http://schemas.openxmlformats.org/officeDocument/2006/relationships/presProps" Target="/ppt/presProps.xml" Id="R14180d7ea49544c7" /><Relationship Type="http://schemas.openxmlformats.org/officeDocument/2006/relationships/tableStyles" Target="/ppt/tableStyles.xml" Id="Re2e0f68d17bd46af" /><Relationship Type="http://schemas.openxmlformats.org/officeDocument/2006/relationships/slide" Target="/ppt/slides/slide1.xml" Id="R46c03cae67094494" /><Relationship Type="http://schemas.openxmlformats.org/officeDocument/2006/relationships/slide" Target="/ppt/slides/slide2.xml" Id="R55a9736eccf74f4f" /><Relationship Type="http://schemas.openxmlformats.org/officeDocument/2006/relationships/slide" Target="/ppt/slides/slide3.xml" Id="Ra01432e508074c58" /><Relationship Type="http://schemas.openxmlformats.org/officeDocument/2006/relationships/slide" Target="/ppt/slides/slide4.xml" Id="R7fb94486b58c43b3" /><Relationship Type="http://schemas.openxmlformats.org/officeDocument/2006/relationships/slide" Target="/ppt/slides/slide5.xml" Id="Rc55342dd97c342d7" /><Relationship Type="http://schemas.openxmlformats.org/officeDocument/2006/relationships/slide" Target="/ppt/slides/slide6.xml" Id="R59be24c01b2a48cc" /><Relationship Type="http://schemas.openxmlformats.org/officeDocument/2006/relationships/slide" Target="/ppt/slides/slide7.xml" Id="R87ad2caa171f4592" /><Relationship Type="http://schemas.openxmlformats.org/officeDocument/2006/relationships/slide" Target="/ppt/slides/slide8.xml" Id="R0f223835af744f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0d52fa7d62e47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a74232ff65d46b3" /><Relationship Type="http://schemas.openxmlformats.org/officeDocument/2006/relationships/notesMaster" Target="/ppt/notesMasters/notesMaster1.xml" Id="Rdfb49ee83d8445f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d9c1573cfbd4dee" /><Relationship Type="http://schemas.openxmlformats.org/officeDocument/2006/relationships/notesMaster" Target="/ppt/notesMasters/notesMaster1.xml" Id="Rfa13c650757d432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39b28f665254a4c" /><Relationship Type="http://schemas.openxmlformats.org/officeDocument/2006/relationships/notesMaster" Target="/ppt/notesMasters/notesMaster1.xml" Id="Ra93e2f3cfb524af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891c03346b741bd" /><Relationship Type="http://schemas.openxmlformats.org/officeDocument/2006/relationships/notesMaster" Target="/ppt/notesMasters/notesMaster1.xml" Id="Rb142d30cc70f4ca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ad17f5d10354946" /><Relationship Type="http://schemas.openxmlformats.org/officeDocument/2006/relationships/notesMaster" Target="/ppt/notesMasters/notesMaster1.xml" Id="Ra321dfb2e08c434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868f1a57cc645d3" /><Relationship Type="http://schemas.openxmlformats.org/officeDocument/2006/relationships/notesMaster" Target="/ppt/notesMasters/notesMaster1.xml" Id="Ra1c3d84edee8412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8d53a28ab1d4ee5" /><Relationship Type="http://schemas.openxmlformats.org/officeDocument/2006/relationships/notesMaster" Target="/ppt/notesMasters/notesMaster1.xml" Id="R8502b5784a4043f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c47bc08d95f4592" /><Relationship Type="http://schemas.openxmlformats.org/officeDocument/2006/relationships/notesMaster" Target="/ppt/notesMasters/notesMaster1.xml" Id="R7fd46a213dd1416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6a791705ff4dd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e6f7bf39b954a08" /><Relationship Type="http://schemas.openxmlformats.org/officeDocument/2006/relationships/slideLayout" Target="/ppt/slideLayouts/slideLayout1.xml" Id="R7577c47b6fc0411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77c47b6fc0411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a35a07e9a84592" /><Relationship Type="http://schemas.openxmlformats.org/officeDocument/2006/relationships/image" Target="/ppt/media/image.png" Id="Rc4524a7c78914578" /><Relationship Type="http://schemas.openxmlformats.org/officeDocument/2006/relationships/image" Target="/ppt/media/image.bin" Id="R7f10c8878b4b40e5" /><Relationship Type="http://schemas.openxmlformats.org/officeDocument/2006/relationships/notesSlide" Target="/ppt/notesSlides/notesSlide1.xml" Id="Ree16561dae2a409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370839b6544d70" /><Relationship Type="http://schemas.openxmlformats.org/officeDocument/2006/relationships/image" Target="/ppt/media/image2.png" Id="Re454542cf7e640b3" /><Relationship Type="http://schemas.openxmlformats.org/officeDocument/2006/relationships/notesSlide" Target="/ppt/notesSlides/notesSlide2.xml" Id="R4ebdf69e1ac54e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0a898fd5a74f89" /><Relationship Type="http://schemas.openxmlformats.org/officeDocument/2006/relationships/image" Target="/ppt/media/image3.png" Id="R5c78bb9db4b64f49" /><Relationship Type="http://schemas.openxmlformats.org/officeDocument/2006/relationships/notesSlide" Target="/ppt/notesSlides/notesSlide3.xml" Id="Re3eb8bf22fca499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1bd26980e1475e" /><Relationship Type="http://schemas.openxmlformats.org/officeDocument/2006/relationships/image" Target="/ppt/media/image4.png" Id="R9b0191dc3c9d4366" /><Relationship Type="http://schemas.openxmlformats.org/officeDocument/2006/relationships/image" Target="/ppt/media/image2.bin" Id="R6b06860f3605475f" /><Relationship Type="http://schemas.openxmlformats.org/officeDocument/2006/relationships/notesSlide" Target="/ppt/notesSlides/notesSlide4.xml" Id="Refaf0935eef546e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6ef9525edc4585" /><Relationship Type="http://schemas.openxmlformats.org/officeDocument/2006/relationships/image" Target="/ppt/media/image5.png" Id="Rd3301656546e4ebf" /><Relationship Type="http://schemas.openxmlformats.org/officeDocument/2006/relationships/notesSlide" Target="/ppt/notesSlides/notesSlide5.xml" Id="Rd583e7cbcd27462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80227258b04763" /><Relationship Type="http://schemas.openxmlformats.org/officeDocument/2006/relationships/image" Target="/ppt/media/image6.png" Id="R484d9a7a6e5e42f2" /><Relationship Type="http://schemas.openxmlformats.org/officeDocument/2006/relationships/image" Target="/ppt/media/image3.bin" Id="R46e68a6dfad24ffd" /><Relationship Type="http://schemas.openxmlformats.org/officeDocument/2006/relationships/image" Target="/ppt/media/image4.bin" Id="Rae4bf92bbee74966" /><Relationship Type="http://schemas.openxmlformats.org/officeDocument/2006/relationships/image" Target="/ppt/media/image5.bin" Id="R2407e332652b4d95" /><Relationship Type="http://schemas.openxmlformats.org/officeDocument/2006/relationships/notesSlide" Target="/ppt/notesSlides/notesSlide6.xml" Id="R860b4ab65eaf415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95e2dfd2524c02" /><Relationship Type="http://schemas.openxmlformats.org/officeDocument/2006/relationships/image" Target="/ppt/media/image7.png" Id="R3c67df4242084c36" /><Relationship Type="http://schemas.openxmlformats.org/officeDocument/2006/relationships/notesSlide" Target="/ppt/notesSlides/notesSlide7.xml" Id="R7a3f969e8423437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41a3e3d71e4b67" /><Relationship Type="http://schemas.openxmlformats.org/officeDocument/2006/relationships/image" Target="/ppt/media/image8.png" Id="R8563bca026cd4497" /><Relationship Type="http://schemas.openxmlformats.org/officeDocument/2006/relationships/notesSlide" Target="/ppt/notesSlides/notesSlide8.xml" Id="R283f59e6dcfe416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6A2931-10AD-47F9-A1D8-9D09DB57B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323850" cy="32385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6F45D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524a7c78914578"/>
          <a:stretch xmlns:a="http://schemas.openxmlformats.org/drawingml/2006/main"/>
        </p:blipFill>
        <p:spPr>
          <a:xfrm xmlns:a="http://schemas.openxmlformats.org/drawingml/2006/main">
            <a:off x="714375" y="50482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8E58DA-8529-4BEF-B10C-AEE5131A6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5300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E172D"/>
                </a:solidFill>
              </a:defRPr>
            </a:pPr>
            <a:r>
              <a:rPr sz="1575" b="1">
                <a:solidFill>
                  <a:srgbClr val="1E172D"/>
                </a:solidFill>
              </a:rPr>
              <a:t>unvibe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46C92D-02A6-40AE-9623-3718BFBB1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811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45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E9EB44-391A-4446-96DD-70056B783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3811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45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3E609C-7C65-4879-AF9F-6D34606EA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5525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45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680F2A-9866-4966-8284-37BFE38A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5525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45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9276DC-744E-4658-A829-3222EDE9C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525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45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CDE859-EB1F-4B24-A1EE-938B39665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240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45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E03852-5951-4F21-A49E-A6980CD1D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240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45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5D28A9-30F3-44C7-BEC4-EE1EA7322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81125"/>
            <a:ext cx="113348" cy="1133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D41F7B-87B3-44A4-824F-B861E96B3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6983" y="1381125"/>
            <a:ext cx="113348" cy="1133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A55B5A-5AAF-45D1-8429-468D2F6B9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6983" y="1526858"/>
            <a:ext cx="113348" cy="1133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E51026-E0D3-41B4-9021-C9F0F3699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2715" y="1526858"/>
            <a:ext cx="113348" cy="1133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CB1C1F-0B5F-45DF-AD22-80E88841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526858"/>
            <a:ext cx="113348" cy="1133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40BDFD-1B77-4F00-A5C3-66576DB90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6983" y="1672590"/>
            <a:ext cx="113348" cy="1133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EB8510-C993-454F-8FB9-FFC97C657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2715" y="1672590"/>
            <a:ext cx="113348" cy="1133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A6D9C3-BB2B-401F-ACA5-4502ED4EE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714875"/>
            <a:ext cx="800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45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E2FA76-1778-45E4-8B65-3EBF4B4E0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0370" y="4714875"/>
            <a:ext cx="800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45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34A1D3-BDA8-4BD0-BF2A-5C50FC651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0370" y="4817745"/>
            <a:ext cx="800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45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DD1FC0-D0E2-41EF-8EDE-F8F92333E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3240" y="4817745"/>
            <a:ext cx="800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45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7F34BC-6882-42DE-B4E3-B6DE20AFF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817745"/>
            <a:ext cx="800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45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DD3A5E-A270-4D77-A040-62A0F3F0E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0370" y="4920615"/>
            <a:ext cx="800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45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7902A6-99F0-4CC5-BD43-CBF755CDF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3240" y="4920615"/>
            <a:ext cx="8001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45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3CE05E-2444-46BA-BFD1-C46D007FF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76375"/>
            <a:ext cx="68580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E172D"/>
                </a:solidFill>
              </a:defRPr>
            </a:pPr>
            <a:r>
              <a:rPr sz="4650" b="1">
                <a:solidFill>
                  <a:srgbClr val="1E172D"/>
                </a:solidFill>
              </a:rPr>
              <a:t>Don’t feel guilty</a:t>
            </a:r>
          </a:p>
          <a:p xmlns:a="http://schemas.openxmlformats.org/drawingml/2006/main">
            <a:pPr>
              <a:defRPr sz="4650" b="1">
                <a:solidFill>
                  <a:srgbClr val="1E172D"/>
                </a:solidFill>
              </a:defRPr>
            </a:pPr>
            <a:r>
              <a:rPr sz="4650" b="1">
                <a:solidFill>
                  <a:srgbClr val="1E172D"/>
                </a:solidFill>
              </a:rPr>
              <a:t>about vibe coding.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8C08D4-87FD-498E-BA09-85D2B46A9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86100"/>
            <a:ext cx="571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i="1">
                <a:solidFill>
                  <a:srgbClr val="6F45D2"/>
                </a:solidFill>
              </a:defRPr>
            </a:pPr>
            <a:r>
              <a:rPr sz="4050" i="1">
                <a:solidFill>
                  <a:srgbClr val="6F45D2"/>
                </a:solidFill>
              </a:rPr>
              <a:t>Make the code yours.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215857-417A-4865-B861-ADE1375B1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B5666"/>
                </a:solidFill>
              </a:defRPr>
            </a:pPr>
            <a:r>
              <a:rPr sz="1500">
                <a:solidFill>
                  <a:srgbClr val="4B5666"/>
                </a:solidFill>
              </a:rPr>
              <a:t>A learning layer for AI-generated code.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2BC84E-8B1B-4EAE-BE38-FFAEF7A6F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76800"/>
            <a:ext cx="1885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45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29F981-F818-4D91-9F87-99F165D05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19675"/>
            <a:ext cx="1504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PRIVATE BETA</a:t>
            </a:r>
          </a:p>
        </p:txBody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10c8878b4b40e5"/>
          <a:srcRect xmlns:a="http://schemas.openxmlformats.org/drawingml/2006/main" l="632" t="0" r="63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24750" y="1409700"/>
            <a:ext cx="3810000" cy="4343400"/>
          </a:xfrm>
          <a:prstGeom xmlns:a="http://schemas.openxmlformats.org/drawingml/2006/main" prst="roundRect">
            <a:avLst>
              <a:gd name="adj" fmla="val 3000"/>
            </a:avLst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8CE4C68-CCD7-472F-A3E8-266C1BAD8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543050"/>
            <a:ext cx="3543300" cy="4076700"/>
          </a:xfrm>
          <a:prstGeom xmlns:a="http://schemas.openxmlformats.org/drawingml/2006/main" prst="roundRect">
            <a:avLst>
              <a:gd name="adj" fmla="val 430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6F45D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B61572-58FA-403F-9949-DF138043D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0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4B5666"/>
                </a:solidFill>
              </a:defRPr>
            </a:pPr>
            <a:r>
              <a:rPr sz="975" b="1">
                <a:solidFill>
                  <a:srgbClr val="4B5666"/>
                </a:solidFill>
              </a:rPr>
              <a:t>AI writes the code. Unvibe helps you understand it.</a:t>
            </a:r>
          </a:p>
        </p:txBody>
      </p:sp>
    </p:spTree>
    <p:extLst>
      <p:ext uri="{BB962C8B-B14F-4D97-AF65-F5344CB8AC3E}">
        <p14:creationId xmlns:p14="http://schemas.microsoft.com/office/powerpoint/2010/main" val="15667670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2117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B5EAF5-2432-40DA-91EE-86A3007D3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323850" cy="32385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54542cf7e640b3"/>
          <a:stretch xmlns:a="http://schemas.openxmlformats.org/drawingml/2006/main"/>
        </p:blipFill>
        <p:spPr>
          <a:xfrm xmlns:a="http://schemas.openxmlformats.org/drawingml/2006/main">
            <a:off x="714375" y="46672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FB4572-EE93-4CB4-91A0-ACA14898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7200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DF8"/>
                </a:solidFill>
              </a:defRPr>
            </a:pPr>
            <a:r>
              <a:rPr sz="1575" b="1">
                <a:solidFill>
                  <a:srgbClr val="FFFDF8"/>
                </a:solidFill>
              </a:rPr>
              <a:t>unvibe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F6DCEA-50B3-4D72-8456-3606CDB39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04825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C9BFD7"/>
                </a:solidFill>
              </a:defRPr>
            </a:pPr>
            <a:r>
              <a:rPr sz="750" b="1">
                <a:solidFill>
                  <a:srgbClr val="C9BFD7"/>
                </a:solidFill>
              </a:rPr>
              <a:t>01 / THE 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009F2E-CBF2-4F47-9A68-02DC94BF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504825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C9BFD7"/>
                </a:solidFill>
              </a:defRPr>
            </a:pPr>
            <a:r>
              <a:rPr sz="750" b="1">
                <a:solidFill>
                  <a:srgbClr val="C9BFD7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3898DD-D641-48D2-97A8-201C6ED12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953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539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54EE7A-5230-4950-A70C-DEA369EC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43050"/>
            <a:ext cx="76676" cy="766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45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125693-1C15-4A40-810C-9892151B2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934" y="1543050"/>
            <a:ext cx="76676" cy="766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45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640BC1-E4D5-4DB5-99FF-F9615F0B7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934" y="1641634"/>
            <a:ext cx="76676" cy="766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45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57BCB1-8FC6-46F1-915C-42DEFE160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8" y="1641634"/>
            <a:ext cx="76676" cy="766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45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370379-4E06-4398-9E88-8888ED57E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41634"/>
            <a:ext cx="76676" cy="766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45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93F14B-E759-4CC9-BE64-0474C9EF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934" y="1740218"/>
            <a:ext cx="76676" cy="766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45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F18FA5-4E28-4A50-90E9-4FF91A874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8" y="1740218"/>
            <a:ext cx="76676" cy="766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45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BF84C1-9649-4198-8413-A5C9AE8DD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90650"/>
            <a:ext cx="7334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DF8"/>
                </a:solidFill>
              </a:defRPr>
            </a:pPr>
            <a:r>
              <a:rPr sz="3600" b="1">
                <a:solidFill>
                  <a:srgbClr val="FFFDF8"/>
                </a:solidFill>
              </a:rPr>
              <a:t>Your agent finished the feature.</a:t>
            </a:r>
          </a:p>
          <a:p xmlns:a="http://schemas.openxmlformats.org/drawingml/2006/main">
            <a:pPr>
              <a:defRPr sz="3600" b="1">
                <a:solidFill>
                  <a:srgbClr val="FFFDF8"/>
                </a:solidFill>
              </a:defRPr>
            </a:pPr>
            <a:r>
              <a:rPr sz="3600" b="1">
                <a:solidFill>
                  <a:srgbClr val="FFFDF8"/>
                </a:solidFill>
              </a:rPr>
              <a:t>Could you explain it tomorrow?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A1C253-C510-4717-BAA8-70998EBB1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38450"/>
            <a:ext cx="609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C9BFD7"/>
                </a:solidFill>
              </a:defRPr>
            </a:pPr>
            <a:r>
              <a:rPr sz="1500">
                <a:solidFill>
                  <a:srgbClr val="C9BFD7"/>
                </a:solidFill>
              </a:rPr>
              <a:t>Using AI is not the problem. Losing the thread of your own project is.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9A5BA9-6BAF-460E-ABD3-1EA8CDED5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147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5395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BD6BF1-0D08-4B00-AC8E-6EA5702C1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3860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C9BFD7"/>
                </a:solidFill>
              </a:defRPr>
            </a:pPr>
            <a:r>
              <a:rPr sz="825" b="1">
                <a:solidFill>
                  <a:srgbClr val="C9BFD7"/>
                </a:solidFill>
              </a:rPr>
              <a:t>BEFORE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CBF23F-6735-4E06-8A32-E79B22C84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6245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DF8"/>
                </a:solidFill>
              </a:defRPr>
            </a:pPr>
            <a:r>
              <a:rPr sz="2550" b="1">
                <a:solidFill>
                  <a:srgbClr val="FFFDF8"/>
                </a:solidFill>
              </a:rPr>
              <a:t>It works. You think.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FF4B5E-B83A-4306-96E8-ED51CEB79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314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C9BFD7"/>
                </a:solidFill>
              </a:defRPr>
            </a:pPr>
            <a:r>
              <a:rPr sz="1425">
                <a:solidFill>
                  <a:srgbClr val="C9BFD7"/>
                </a:solidFill>
              </a:rPr>
              <a:t>Unfamiliar abstractions</a:t>
            </a:r>
          </a:p>
          <a:p xmlns:a="http://schemas.openxmlformats.org/drawingml/2006/main">
            <a:pPr>
              <a:defRPr sz="1425">
                <a:solidFill>
                  <a:srgbClr val="C9BFD7"/>
                </a:solidFill>
              </a:defRPr>
            </a:pPr>
            <a:r>
              <a:rPr sz="1425">
                <a:solidFill>
                  <a:srgbClr val="C9BFD7"/>
                </a:solidFill>
              </a:rPr>
              <a:t>Unexplained dependencies</a:t>
            </a:r>
          </a:p>
          <a:p xmlns:a="http://schemas.openxmlformats.org/drawingml/2006/main">
            <a:pPr>
              <a:defRPr sz="1425">
                <a:solidFill>
                  <a:srgbClr val="C9BFD7"/>
                </a:solidFill>
              </a:defRPr>
            </a:pPr>
            <a:r>
              <a:rPr sz="1425">
                <a:solidFill>
                  <a:srgbClr val="C9BFD7"/>
                </a:solidFill>
              </a:rPr>
              <a:t>Possible failure points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544290-00CA-45A1-B7D0-D6F4F52FB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0386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C7B3FF"/>
                </a:solidFill>
              </a:defRPr>
            </a:pPr>
            <a:r>
              <a:rPr sz="825" b="1">
                <a:solidFill>
                  <a:srgbClr val="C7B3FF"/>
                </a:solidFill>
              </a:rPr>
              <a:t>AFTER UNVIBE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D77298-A397-4950-A8F7-80E41B183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3624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DF8"/>
                </a:solidFill>
              </a:defRPr>
            </a:pPr>
            <a:r>
              <a:rPr sz="2550" b="1">
                <a:solidFill>
                  <a:srgbClr val="FFFDF8"/>
                </a:solidFill>
              </a:rPr>
              <a:t>Context found.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4855B6-E03F-4868-8F10-390A35D4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010150"/>
            <a:ext cx="361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C9BFD7"/>
                </a:solidFill>
              </a:defRPr>
            </a:pPr>
            <a:r>
              <a:rPr sz="1425">
                <a:solidFill>
                  <a:srgbClr val="C9BFD7"/>
                </a:solidFill>
              </a:rPr>
              <a:t>What changed</a:t>
            </a:r>
          </a:p>
          <a:p xmlns:a="http://schemas.openxmlformats.org/drawingml/2006/main">
            <a:pPr>
              <a:defRPr sz="1425">
                <a:solidFill>
                  <a:srgbClr val="C9BFD7"/>
                </a:solidFill>
              </a:defRPr>
            </a:pPr>
            <a:r>
              <a:rPr sz="1425">
                <a:solidFill>
                  <a:srgbClr val="C9BFD7"/>
                </a:solidFill>
              </a:rPr>
              <a:t>Why it changed</a:t>
            </a:r>
          </a:p>
          <a:p xmlns:a="http://schemas.openxmlformats.org/drawingml/2006/main">
            <a:pPr>
              <a:defRPr sz="1425">
                <a:solidFill>
                  <a:srgbClr val="C9BFD7"/>
                </a:solidFill>
              </a:defRPr>
            </a:pPr>
            <a:r>
              <a:rPr sz="1425">
                <a:solidFill>
                  <a:srgbClr val="C9BFD7"/>
                </a:solidFill>
              </a:rPr>
              <a:t>Files and concepts involved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314CB5-743A-4B92-A952-91AD4102C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686300"/>
            <a:ext cx="495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6F45D2"/>
                </a:solidFill>
              </a:defRPr>
            </a:pPr>
            <a:r>
              <a:rPr sz="2850" b="1">
                <a:solidFill>
                  <a:srgbClr val="6F45D2"/>
                </a:solidFill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12573962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E4A61F-0531-40CC-B8BD-557592E77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323850" cy="32385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6F45D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78bb9db4b64f49"/>
          <a:stretch xmlns:a="http://schemas.openxmlformats.org/drawingml/2006/main"/>
        </p:blipFill>
        <p:spPr>
          <a:xfrm xmlns:a="http://schemas.openxmlformats.org/drawingml/2006/main">
            <a:off x="714375" y="46672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8DCBDC-1E91-40C1-8FD2-7B11C7D2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7200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E172D"/>
                </a:solidFill>
              </a:defRPr>
            </a:pPr>
            <a:r>
              <a:rPr sz="1575" b="1">
                <a:solidFill>
                  <a:srgbClr val="1E172D"/>
                </a:solidFill>
              </a:rPr>
              <a:t>unvibe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2A171D-8FF6-4736-B438-733D6F3CA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04825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4B5666"/>
                </a:solidFill>
              </a:defRPr>
            </a:pPr>
            <a:r>
              <a:rPr sz="750" b="1">
                <a:solidFill>
                  <a:srgbClr val="4B5666"/>
                </a:solidFill>
              </a:rPr>
              <a:t>02 / ONE QUIET LOOP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DAAFC8-90FA-42BA-BC6D-BA59B37C4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504825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4B5666"/>
                </a:solidFill>
              </a:defRPr>
            </a:pPr>
            <a:r>
              <a:rPr sz="750" b="1">
                <a:solidFill>
                  <a:srgbClr val="4B5666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B7EE37-384E-4A72-A7E3-9A1A7D5E9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953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6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656DFC-D4FB-45DC-BBE3-A4AB72EE8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6286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E172D"/>
                </a:solidFill>
              </a:defRPr>
            </a:pPr>
            <a:r>
              <a:rPr sz="3900" b="1">
                <a:solidFill>
                  <a:srgbClr val="1E172D"/>
                </a:solidFill>
              </a:rPr>
              <a:t>From generated to</a:t>
            </a:r>
          </a:p>
          <a:p xmlns:a="http://schemas.openxmlformats.org/drawingml/2006/main">
            <a:pPr>
              <a:defRPr sz="3900" b="1">
                <a:solidFill>
                  <a:srgbClr val="1E172D"/>
                </a:solidFill>
              </a:defRPr>
            </a:pPr>
            <a:r>
              <a:rPr sz="3900" b="1">
                <a:solidFill>
                  <a:srgbClr val="1E172D"/>
                </a:solidFill>
              </a:rPr>
              <a:t>genuinely understood.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ABF540-B6B9-4B5C-A203-DABA65039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B5666"/>
                </a:solidFill>
              </a:defRPr>
            </a:pPr>
            <a:r>
              <a:rPr sz="1500">
                <a:solidFill>
                  <a:srgbClr val="4B5666"/>
                </a:solidFill>
              </a:rPr>
              <a:t>Three steps. Then you keep building.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B4B813-CCE9-49B3-A8E7-11488B96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F45D2"/>
                </a:solidFill>
              </a:defRPr>
            </a:pPr>
            <a:r>
              <a:rPr sz="975" b="1">
                <a:solidFill>
                  <a:srgbClr val="6F45D2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BF00CE-28DA-4E25-9B18-EDEB065C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624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E172D"/>
                </a:solidFill>
              </a:defRPr>
            </a:pPr>
            <a:r>
              <a:rPr sz="2025" b="1">
                <a:solidFill>
                  <a:srgbClr val="1E172D"/>
                </a:solidFill>
              </a:rPr>
              <a:t>Select code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F0BB9D-16C4-4986-911F-8EEBD1E4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2743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B5666"/>
                </a:solidFill>
              </a:defRPr>
            </a:pPr>
            <a:r>
              <a:rPr sz="1275">
                <a:solidFill>
                  <a:srgbClr val="4B5666"/>
                </a:solidFill>
              </a:rPr>
              <a:t>Choose the exact lines, file, or git change you want to understand.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612E5D-B00E-4926-BEAF-D2A66015D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09575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B02EA6-78A1-42CF-A151-19A50B4F1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095750"/>
            <a:ext cx="171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45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C0F93F-BB83-4E19-8999-2EFB4D401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005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F45D2"/>
                </a:solidFill>
              </a:defRPr>
            </a:pPr>
            <a:r>
              <a:rPr sz="975" b="1">
                <a:solidFill>
                  <a:srgbClr val="6F45D2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2A5D9D-05ED-43E9-9AE1-5066589EA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3624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E172D"/>
                </a:solidFill>
              </a:defRPr>
            </a:pPr>
            <a:r>
              <a:rPr sz="2025" b="1">
                <a:solidFill>
                  <a:srgbClr val="1E172D"/>
                </a:solidFill>
              </a:rPr>
              <a:t>Choose your level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7854AA-C9A5-4BE2-981D-7C066AC6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57750"/>
            <a:ext cx="2743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B5666"/>
                </a:solidFill>
              </a:defRPr>
            </a:pPr>
            <a:r>
              <a:rPr sz="1275">
                <a:solidFill>
                  <a:srgbClr val="4B5666"/>
                </a:solidFill>
              </a:rPr>
              <a:t>Start plain, go deep, or switch level whenever the explanation misses.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A3E077-D7A5-4629-A1EF-72EA7F47E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09575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9E8345-C101-40C5-8311-C2C733A69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095750"/>
            <a:ext cx="171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45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0909D3-D5B3-4738-8E25-76D4EBC37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005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F45D2"/>
                </a:solidFill>
              </a:defRPr>
            </a:pPr>
            <a:r>
              <a:rPr sz="975" b="1">
                <a:solidFill>
                  <a:srgbClr val="6F45D2"/>
                </a:solidFill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4E3DAE-4A70-4874-B97A-C9E1CCA15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624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E172D"/>
                </a:solidFill>
              </a:defRPr>
            </a:pPr>
            <a:r>
              <a:rPr sz="2025" b="1">
                <a:solidFill>
                  <a:srgbClr val="1E172D"/>
                </a:solidFill>
              </a:rPr>
              <a:t>Understand. Continue.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E31F3F-88E3-4B09-8E14-DD162CE0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857750"/>
            <a:ext cx="2743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B5666"/>
                </a:solidFill>
              </a:defRPr>
            </a:pPr>
            <a:r>
              <a:rPr sz="1275">
                <a:solidFill>
                  <a:srgbClr val="4B5666"/>
                </a:solidFill>
              </a:rPr>
              <a:t>Ask a follow-up, test yourself, save the concept, and get back to the project.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2AF5AB-9006-4668-8F18-2B865F106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6578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45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828EA5-8A47-4A62-A219-9CEE5CC83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3225" y="56578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45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59F7C6-0327-488C-96FD-67F3D5A13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3225" y="57435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45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0C061B-B1ED-4EA1-9F82-AF34ADF79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57435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45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63FBF0-3C34-43DE-91E2-78CEAFC8B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7435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45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8ED8D6-82E9-4DC6-9508-4079B962C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3225" y="58293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45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8ECB8D-6600-47D5-AC87-0D17A1253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58293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45D2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7265178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EE5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8B0F9E-5EA7-4CB0-BB48-0A3AE3183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323850" cy="32385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6F45D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0191dc3c9d4366"/>
          <a:stretch xmlns:a="http://schemas.openxmlformats.org/drawingml/2006/main"/>
        </p:blipFill>
        <p:spPr>
          <a:xfrm xmlns:a="http://schemas.openxmlformats.org/drawingml/2006/main">
            <a:off x="714375" y="46672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BA61BE-B357-4458-9A63-071ADD743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7200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E172D"/>
                </a:solidFill>
              </a:defRPr>
            </a:pPr>
            <a:r>
              <a:rPr sz="1575" b="1">
                <a:solidFill>
                  <a:srgbClr val="1E172D"/>
                </a:solidFill>
              </a:rPr>
              <a:t>unvibe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9F641B-1F70-4079-AB05-B94BF5D13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04825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4B5666"/>
                </a:solidFill>
              </a:defRPr>
            </a:pPr>
            <a:r>
              <a:rPr sz="750" b="1">
                <a:solidFill>
                  <a:srgbClr val="4B5666"/>
                </a:solidFill>
              </a:rPr>
              <a:t>03 / YOUR PROJECT IS THE CURRICULUM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A79A34-8DF0-44E4-9730-3770447D3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504825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4B5666"/>
                </a:solidFill>
              </a:defRPr>
            </a:pPr>
            <a:r>
              <a:rPr sz="750" b="1">
                <a:solidFill>
                  <a:srgbClr val="4B5666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C91B41-668C-4385-BF0A-B720EEF95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953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6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071290-F75F-447E-BB3C-F2B33D8CE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33500"/>
            <a:ext cx="600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825" b="1">
                <a:solidFill>
                  <a:srgbClr val="1E172D"/>
                </a:solidFill>
              </a:defRPr>
            </a:pPr>
            <a:r>
              <a:rPr sz="3825" b="1">
                <a:solidFill>
                  <a:srgbClr val="1E172D"/>
                </a:solidFill>
              </a:rPr>
              <a:t>A line rarely makes sense</a:t>
            </a:r>
          </a:p>
          <a:p xmlns:a="http://schemas.openxmlformats.org/drawingml/2006/main">
            <a:pPr>
              <a:defRPr sz="3825" b="1">
                <a:solidFill>
                  <a:srgbClr val="1E172D"/>
                </a:solidFill>
              </a:defRPr>
            </a:pPr>
            <a:r>
              <a:rPr sz="3825" b="1">
                <a:solidFill>
                  <a:srgbClr val="1E172D"/>
                </a:solidFill>
              </a:rPr>
              <a:t>by itself.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6E54AE-5DEF-45DF-99AD-98DDE4D2F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514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B5666"/>
                </a:solidFill>
              </a:defRPr>
            </a:pPr>
            <a:r>
              <a:rPr sz="1425">
                <a:solidFill>
                  <a:srgbClr val="4B5666"/>
                </a:solidFill>
              </a:rPr>
              <a:t>Unvibe moves outward from expression to architecture, then turns the missing context into something learnable.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92B905-A06C-434F-915F-2F64CE9E0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504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F2AA9"/>
                </a:solidFill>
              </a:defRPr>
            </a:pPr>
            <a:r>
              <a:rPr sz="900" b="1">
                <a:solidFill>
                  <a:srgbClr val="4F2AA9"/>
                </a:solidFill>
              </a:rPr>
              <a:t>LINE  →  FUNCTION  →  FILE  →  PROJECT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4A2F1F-C0D7-485F-B7CB-642AF90D3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43400"/>
            <a:ext cx="504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i="1">
                <a:solidFill>
                  <a:srgbClr val="4F2AA9"/>
                </a:solidFill>
              </a:defRPr>
            </a:pPr>
            <a:r>
              <a:rPr sz="2100" i="1">
                <a:solidFill>
                  <a:srgbClr val="4F2AA9"/>
                </a:solidFill>
              </a:rPr>
              <a:t>No generic tutorial can know the decisions inside your repository.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06860f3605475f"/>
          <a:srcRect xmlns:a="http://schemas.openxmlformats.org/drawingml/2006/main" l="0" t="8020" r="0" b="80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1257300"/>
            <a:ext cx="4333875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B9A5CF-BE1E-4CE6-B7A6-1D76D5D2A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390650"/>
            <a:ext cx="4067175" cy="3829050"/>
          </a:xfrm>
          <a:prstGeom xmlns:a="http://schemas.openxmlformats.org/drawingml/2006/main" prst="roundRect">
            <a:avLst>
              <a:gd name="adj" fmla="val 398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6F45D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073591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2117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5E6329-A665-422E-90AB-F475A3B4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323850" cy="32385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301656546e4ebf"/>
          <a:stretch xmlns:a="http://schemas.openxmlformats.org/drawingml/2006/main"/>
        </p:blipFill>
        <p:spPr>
          <a:xfrm xmlns:a="http://schemas.openxmlformats.org/drawingml/2006/main">
            <a:off x="714375" y="46672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47D617-3AF8-40C5-8AB8-51C296F78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7200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DF8"/>
                </a:solidFill>
              </a:defRPr>
            </a:pPr>
            <a:r>
              <a:rPr sz="1575" b="1">
                <a:solidFill>
                  <a:srgbClr val="FFFDF8"/>
                </a:solidFill>
              </a:rPr>
              <a:t>unvibe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ABEB70-D075-45C9-AFD1-4EA3CB271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04825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C9BFD7"/>
                </a:solidFill>
              </a:defRPr>
            </a:pPr>
            <a:r>
              <a:rPr sz="750" b="1">
                <a:solidFill>
                  <a:srgbClr val="C9BFD7"/>
                </a:solidFill>
              </a:rPr>
              <a:t>04 / PRIVATE BY DESIGN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17490F-6275-45EE-85CC-E7DCE474A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504825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C9BFD7"/>
                </a:solidFill>
              </a:defRPr>
            </a:pPr>
            <a:r>
              <a:rPr sz="750" b="1">
                <a:solidFill>
                  <a:srgbClr val="C9BFD7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15D656-2A5F-467B-BDF0-5CFA8CE68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953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539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D6806F-15C5-44F7-B720-AB86C7031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590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DF8"/>
                </a:solidFill>
              </a:defRPr>
            </a:pPr>
            <a:r>
              <a:rPr sz="3900" b="1">
                <a:solidFill>
                  <a:srgbClr val="FFFDF8"/>
                </a:solidFill>
              </a:rPr>
              <a:t>Your code deserves</a:t>
            </a:r>
          </a:p>
          <a:p xmlns:a="http://schemas.openxmlformats.org/drawingml/2006/main">
            <a:pPr>
              <a:defRPr sz="3900" b="1">
                <a:solidFill>
                  <a:srgbClr val="FFFDF8"/>
                </a:solidFill>
              </a:defRPr>
            </a:pPr>
            <a:r>
              <a:rPr sz="3900" b="1">
                <a:solidFill>
                  <a:srgbClr val="FFFDF8"/>
                </a:solidFill>
              </a:rPr>
              <a:t>a careful boundary.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25379B-D74A-4AD5-B73B-270CF89C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0350"/>
            <a:ext cx="514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C9BFD7"/>
                </a:solidFill>
              </a:defRPr>
            </a:pPr>
            <a:r>
              <a:rPr sz="1425">
                <a:solidFill>
                  <a:srgbClr val="C9BFD7"/>
                </a:solidFill>
              </a:rPr>
              <a:t>Unvibe filters likely secrets locally before approved context can be sent for an explanation.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6EED2D-3753-46C3-A3DE-BB38F3E4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29718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03B"/>
          </a:solidFill>
          <a:ln xmlns:a="http://schemas.openxmlformats.org/drawingml/2006/main" w="9525">
            <a:solidFill>
              <a:srgbClr val="45395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44BA1A-EC07-4AC8-A19C-8B91C3763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434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7B3FF"/>
                </a:solidFill>
              </a:defRPr>
            </a:pPr>
            <a:r>
              <a:rPr sz="900" b="1">
                <a:solidFill>
                  <a:srgbClr val="C7B3FF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0E9760-24D3-4B40-8388-03056BB41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67250"/>
            <a:ext cx="2428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DF8"/>
                </a:solidFill>
              </a:defRPr>
            </a:pPr>
            <a:r>
              <a:rPr sz="1500" b="1">
                <a:solidFill>
                  <a:srgbClr val="FFFDF8"/>
                </a:solidFill>
              </a:rPr>
              <a:t>Your selected context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A74966-20C4-47A8-812E-9E77D1BC1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006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C9BFD7"/>
                </a:solidFill>
              </a:defRPr>
            </a:pPr>
            <a:r>
              <a:rPr sz="1050">
                <a:solidFill>
                  <a:srgbClr val="C9BFD7"/>
                </a:solidFill>
              </a:rPr>
              <a:t>On your Mac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357650-C3E2-4417-90B0-1D2F9A15B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54342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6F45D2"/>
                </a:solidFill>
              </a:defRPr>
            </a:pPr>
            <a:r>
              <a:rPr sz="1950">
                <a:solidFill>
                  <a:srgbClr val="6F45D2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E74396-FF22-4A6E-B35A-5AFF83BBB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152900"/>
            <a:ext cx="29718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2769"/>
          </a:solidFill>
          <a:ln xmlns:a="http://schemas.openxmlformats.org/drawingml/2006/main" w="9525">
            <a:solidFill>
              <a:srgbClr val="6F45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E32C78-1251-4E2A-A1FE-6D533143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3434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7B3FF"/>
                </a:solidFill>
              </a:defRPr>
            </a:pPr>
            <a:r>
              <a:rPr sz="900" b="1">
                <a:solidFill>
                  <a:srgbClr val="C7B3FF"/>
                </a:solidFill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89A571-440C-46C3-AAF9-07C4BA1B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667250"/>
            <a:ext cx="2428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DF8"/>
                </a:solidFill>
              </a:defRPr>
            </a:pPr>
            <a:r>
              <a:rPr sz="1500" b="1">
                <a:solidFill>
                  <a:srgbClr val="FFFDF8"/>
                </a:solidFill>
              </a:rPr>
              <a:t>Local secret filter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92B4F3-05F1-45ED-8DDB-E39B06840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0006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C9BFD7"/>
                </a:solidFill>
              </a:defRPr>
            </a:pPr>
            <a:r>
              <a:rPr sz="1050">
                <a:solidFill>
                  <a:srgbClr val="C9BFD7"/>
                </a:solidFill>
              </a:rPr>
              <a:t>.env · keys · tokens · builds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B72497-96ED-4614-8394-23604F0EF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54342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6F45D2"/>
                </a:solidFill>
              </a:defRPr>
            </a:pPr>
            <a:r>
              <a:rPr sz="1950">
                <a:solidFill>
                  <a:srgbClr val="6F45D2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224E43-C90D-4CBE-BEEF-4A6910016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152900"/>
            <a:ext cx="29718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03B"/>
          </a:solidFill>
          <a:ln xmlns:a="http://schemas.openxmlformats.org/drawingml/2006/main" w="9525">
            <a:solidFill>
              <a:srgbClr val="45395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735245-B818-463D-BC07-8C4F084D9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3434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7B3FF"/>
                </a:solidFill>
              </a:defRPr>
            </a:pPr>
            <a:r>
              <a:rPr sz="900" b="1">
                <a:solidFill>
                  <a:srgbClr val="C7B3FF"/>
                </a:solidFill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AFEE89-E334-4886-9CFF-23AE9CCD4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667250"/>
            <a:ext cx="2428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DF8"/>
                </a:solidFill>
              </a:defRPr>
            </a:pPr>
            <a:r>
              <a:rPr sz="1500" b="1">
                <a:solidFill>
                  <a:srgbClr val="FFFDF8"/>
                </a:solidFill>
              </a:rPr>
              <a:t>Approved request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43991E-C7E0-4860-B603-2070958E9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0006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C9BFD7"/>
                </a:solidFill>
              </a:defRPr>
            </a:pPr>
            <a:r>
              <a:rPr sz="1050">
                <a:solidFill>
                  <a:srgbClr val="C9BFD7"/>
                </a:solidFill>
              </a:rPr>
              <a:t>Filtered context only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8A4B2E-4A47-4287-A04F-509B26158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C9BFD7"/>
                </a:solidFill>
              </a:defRPr>
            </a:pPr>
            <a:r>
              <a:rPr sz="900">
                <a:solidFill>
                  <a:srgbClr val="C9BFD7"/>
                </a:solidFill>
              </a:rPr>
              <a:t>Privacy policy · Terms of service · Data controls</a:t>
            </a:r>
          </a:p>
        </p:txBody>
      </p:sp>
    </p:spTree>
    <p:extLst>
      <p:ext uri="{BB962C8B-B14F-4D97-AF65-F5344CB8AC3E}">
        <p14:creationId xmlns:p14="http://schemas.microsoft.com/office/powerpoint/2010/main" val="14193790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471A27-B151-4B1D-ABC7-84D171FE5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323850" cy="32385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6F45D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4d9a7a6e5e42f2"/>
          <a:stretch xmlns:a="http://schemas.openxmlformats.org/drawingml/2006/main"/>
        </p:blipFill>
        <p:spPr>
          <a:xfrm xmlns:a="http://schemas.openxmlformats.org/drawingml/2006/main">
            <a:off x="714375" y="46672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2D049E-2EF5-4E69-A325-7C5EB947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7200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E172D"/>
                </a:solidFill>
              </a:defRPr>
            </a:pPr>
            <a:r>
              <a:rPr sz="1575" b="1">
                <a:solidFill>
                  <a:srgbClr val="1E172D"/>
                </a:solidFill>
              </a:rPr>
              <a:t>unvibe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A2E14C-CF76-451B-80EC-43AE6CA8A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04825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4B5666"/>
                </a:solidFill>
              </a:defRPr>
            </a:pPr>
            <a:r>
              <a:rPr sz="750" b="1">
                <a:solidFill>
                  <a:srgbClr val="4B5666"/>
                </a:solidFill>
              </a:rPr>
              <a:t>05 / KEEP THE THREAD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3D8619-5F22-4989-88DA-BBBDF71DB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504825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4B5666"/>
                </a:solidFill>
              </a:defRPr>
            </a:pPr>
            <a:r>
              <a:rPr sz="750" b="1">
                <a:solidFill>
                  <a:srgbClr val="4B5666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BF0C5D-B85E-4FC5-9131-AFF4C3AC2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953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6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F622F5-E72F-4151-A19B-A0FDB97D8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33500"/>
            <a:ext cx="628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E172D"/>
                </a:solidFill>
              </a:defRPr>
            </a:pPr>
            <a:r>
              <a:rPr sz="3900" b="1">
                <a:solidFill>
                  <a:srgbClr val="1E172D"/>
                </a:solidFill>
              </a:rPr>
              <a:t>Five places to keep</a:t>
            </a:r>
          </a:p>
          <a:p xmlns:a="http://schemas.openxmlformats.org/drawingml/2006/main">
            <a:pPr>
              <a:defRPr sz="3900" b="1">
                <a:solidFill>
                  <a:srgbClr val="1E172D"/>
                </a:solidFill>
              </a:defRPr>
            </a:pPr>
            <a:r>
              <a:rPr sz="3900" b="1">
                <a:solidFill>
                  <a:srgbClr val="1E172D"/>
                </a:solidFill>
              </a:rPr>
              <a:t>learning moving.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578F43-238C-458C-8B16-CE6894F9A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533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B5666"/>
                </a:solidFill>
              </a:defRPr>
            </a:pPr>
            <a:r>
              <a:rPr sz="1425">
                <a:solidFill>
                  <a:srgbClr val="4B5666"/>
                </a:solidFill>
              </a:rPr>
              <a:t>Every screen connects to real code reviews, explanations, and progress—not an invented course.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e68a6dfad24ffd"/>
          <a:srcRect xmlns:a="http://schemas.openxmlformats.org/drawingml/2006/main" l="0" t="1137" r="0" b="11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1276350"/>
            <a:ext cx="2857500" cy="314325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4bf92bbee74966"/>
          <a:srcRect xmlns:a="http://schemas.openxmlformats.org/drawingml/2006/main" l="1115" t="0" r="111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24950" y="1714500"/>
            <a:ext cx="2266950" cy="2609850"/>
          </a:xfrm>
          <a:prstGeom xmlns:a="http://schemas.openxmlformats.org/drawingml/2006/main" prst="roundRect">
            <a:avLst>
              <a:gd name="adj" fmla="val 5042"/>
            </a:avLst>
          </a:prstGeom>
        </p:spPr>
      </p:pic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07e332652b4d95"/>
          <a:srcRect xmlns:a="http://schemas.openxmlformats.org/drawingml/2006/main" l="0" t="20175" r="0" b="201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15100" y="4095750"/>
            <a:ext cx="2667000" cy="1790700"/>
          </a:xfrm>
          <a:prstGeom xmlns:a="http://schemas.openxmlformats.org/drawingml/2006/main" prst="roundRect">
            <a:avLst>
              <a:gd name="adj" fmla="val 6383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505D16-0241-40EE-8980-937D758F8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533900"/>
            <a:ext cx="20764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45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D0118F-FA32-4564-BCF1-E6C4933BD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695825"/>
            <a:ext cx="1562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EDE5FF"/>
                </a:solidFill>
              </a:defRPr>
            </a:pPr>
            <a:r>
              <a:rPr sz="750" b="1">
                <a:solidFill>
                  <a:srgbClr val="EDE5FF"/>
                </a:solidFill>
              </a:rPr>
              <a:t>PLAN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678FE5-120E-4C41-BC25-893FB5CE8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943475"/>
            <a:ext cx="1657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Start free.</a:t>
            </a:r>
          </a:p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Upgrade later.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D6FCA7-E238-4F8F-91BF-272336C51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14850"/>
            <a:ext cx="5219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F2AA9"/>
                </a:solidFill>
              </a:defRPr>
            </a:pPr>
            <a:r>
              <a:rPr sz="900" b="1">
                <a:solidFill>
                  <a:srgbClr val="4F2AA9"/>
                </a:solidFill>
              </a:rPr>
              <a:t>STUDY   HISTORY   QUIZ   PROGRESS   PLAN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464BD2-AFC3-46A1-A637-53AB81F35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B5666"/>
                </a:solidFill>
              </a:defRPr>
            </a:pPr>
            <a:r>
              <a:rPr sz="1350">
                <a:solidFill>
                  <a:srgbClr val="4B5666"/>
                </a:solidFill>
              </a:rPr>
              <a:t>The sixth destination is Plan: clear usage, reset dates, and only the space your work needs.</a:t>
            </a:r>
          </a:p>
        </p:txBody>
      </p:sp>
    </p:spTree>
    <p:extLst>
      <p:ext uri="{BB962C8B-B14F-4D97-AF65-F5344CB8AC3E}">
        <p14:creationId xmlns:p14="http://schemas.microsoft.com/office/powerpoint/2010/main" val="8355682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663CB8-B166-495E-A409-E18251AB0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323850" cy="32385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6F45D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67df4242084c36"/>
          <a:stretch xmlns:a="http://schemas.openxmlformats.org/drawingml/2006/main"/>
        </p:blipFill>
        <p:spPr>
          <a:xfrm xmlns:a="http://schemas.openxmlformats.org/drawingml/2006/main">
            <a:off x="714375" y="46672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D9CCCE-A786-41D8-9CFB-2AC0E5168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7200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E172D"/>
                </a:solidFill>
              </a:defRPr>
            </a:pPr>
            <a:r>
              <a:rPr sz="1575" b="1">
                <a:solidFill>
                  <a:srgbClr val="1E172D"/>
                </a:solidFill>
              </a:rPr>
              <a:t>unvibe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512205-0633-4695-8423-3D0C2C61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04825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4B5666"/>
                </a:solidFill>
              </a:defRPr>
            </a:pPr>
            <a:r>
              <a:rPr sz="750" b="1">
                <a:solidFill>
                  <a:srgbClr val="4B5666"/>
                </a:solidFill>
              </a:rPr>
              <a:t>06 / PRICING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2E7CE6-6AB8-4A4C-83CF-825A83E43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504825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4B5666"/>
                </a:solidFill>
              </a:defRPr>
            </a:pPr>
            <a:r>
              <a:rPr sz="750" b="1">
                <a:solidFill>
                  <a:srgbClr val="4B5666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52D325-FDDD-4D7C-90F5-E9FB0B6EF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953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6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481057-0311-466C-9EF8-0F3A2262D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33500"/>
            <a:ext cx="68580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E172D"/>
                </a:solidFill>
              </a:defRPr>
            </a:pPr>
            <a:r>
              <a:rPr sz="3450" b="1">
                <a:solidFill>
                  <a:srgbClr val="1E172D"/>
                </a:solidFill>
              </a:rPr>
              <a:t>Start free.</a:t>
            </a:r>
          </a:p>
          <a:p xmlns:a="http://schemas.openxmlformats.org/drawingml/2006/main">
            <a:pPr>
              <a:defRPr sz="3450" b="1">
                <a:solidFill>
                  <a:srgbClr val="1E172D"/>
                </a:solidFill>
              </a:defRPr>
            </a:pPr>
            <a:r>
              <a:rPr sz="3450" b="1">
                <a:solidFill>
                  <a:srgbClr val="1E172D"/>
                </a:solidFill>
              </a:rPr>
              <a:t>Upgrade when your projects</a:t>
            </a:r>
          </a:p>
          <a:p xmlns:a="http://schemas.openxmlformats.org/drawingml/2006/main">
            <a:pPr>
              <a:defRPr sz="3450" b="1">
                <a:solidFill>
                  <a:srgbClr val="1E172D"/>
                </a:solidFill>
              </a:defRPr>
            </a:pPr>
            <a:r>
              <a:rPr sz="3450" b="1">
                <a:solidFill>
                  <a:srgbClr val="1E172D"/>
                </a:solidFill>
              </a:rPr>
              <a:t>grow.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7A625D-563B-4562-A4BC-DD2A161A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B5666"/>
                </a:solidFill>
              </a:defRPr>
            </a:pPr>
            <a:r>
              <a:rPr sz="1425">
                <a:solidFill>
                  <a:srgbClr val="4B5666"/>
                </a:solidFill>
              </a:rPr>
              <a:t>No API key. No card required to start.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1CA85C-E625-4B01-BF1F-A39C466DA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31813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FF"/>
          </a:solidFill>
          <a:ln xmlns:a="http://schemas.openxmlformats.org/drawingml/2006/main" w="9525">
            <a:solidFill>
              <a:srgbClr val="E2E6E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9ED230-A6BF-49CF-8E9A-769FF9E9F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910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4F2AA9"/>
                </a:solidFill>
              </a:defRPr>
            </a:pPr>
            <a:r>
              <a:rPr sz="825" b="1">
                <a:solidFill>
                  <a:srgbClr val="4F2AA9"/>
                </a:solidFill>
              </a:rPr>
              <a:t>FREE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9F750E-371E-4F8A-BBAD-FCDF661FA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33900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E172D"/>
                </a:solidFill>
              </a:defRPr>
            </a:pPr>
            <a:r>
              <a:rPr sz="1875" b="1">
                <a:solidFill>
                  <a:srgbClr val="1E172D"/>
                </a:solidFill>
              </a:rPr>
              <a:t>$0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57D957-B911-4C81-A00E-13AA8FD60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48250"/>
            <a:ext cx="2533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B5666"/>
                </a:solidFill>
              </a:defRPr>
            </a:pPr>
            <a:r>
              <a:rPr sz="1200">
                <a:solidFill>
                  <a:srgbClr val="4B5666"/>
                </a:solidFill>
              </a:rPr>
              <a:t>30 explanations / month</a:t>
            </a:r>
          </a:p>
          <a:p xmlns:a="http://schemas.openxmlformats.org/drawingml/2006/main">
            <a:pPr>
              <a:defRPr sz="1200">
                <a:solidFill>
                  <a:srgbClr val="4B5666"/>
                </a:solidFill>
              </a:defRPr>
            </a:pPr>
            <a:r>
              <a:rPr sz="1200">
                <a:solidFill>
                  <a:srgbClr val="4B5666"/>
                </a:solidFill>
              </a:rPr>
              <a:t>One active project</a:t>
            </a:r>
          </a:p>
          <a:p xmlns:a="http://schemas.openxmlformats.org/drawingml/2006/main">
            <a:pPr>
              <a:defRPr sz="1200">
                <a:solidFill>
                  <a:srgbClr val="4B5666"/>
                </a:solidFill>
              </a:defRPr>
            </a:pPr>
            <a:r>
              <a:rPr sz="1200">
                <a:solidFill>
                  <a:srgbClr val="4B5666"/>
                </a:solidFill>
              </a:rPr>
              <a:t>Saved learning history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5721EA-66B6-4355-A2F6-714923D1D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43350"/>
            <a:ext cx="31813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45D2"/>
          </a:solidFill>
          <a:ln xmlns:a="http://schemas.openxmlformats.org/drawingml/2006/main" w="9525">
            <a:solidFill>
              <a:srgbClr val="6F45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6EB32C-D6F7-42AC-AE6A-6F3843C1E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910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EDE5FF"/>
                </a:solidFill>
              </a:defRPr>
            </a:pPr>
            <a:r>
              <a:rPr sz="825" b="1">
                <a:solidFill>
                  <a:srgbClr val="EDE5FF"/>
                </a:solidFill>
              </a:rPr>
              <a:t>PRO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0646F8-2032-4B37-9E0B-E34F6561B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533900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$8 / month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9BFD13-E64D-41F6-8FA4-40A065CCA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048250"/>
            <a:ext cx="2533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EDE5FF"/>
                </a:solidFill>
              </a:defRPr>
            </a:pPr>
            <a:r>
              <a:rPr sz="1200">
                <a:solidFill>
                  <a:srgbClr val="EDE5FF"/>
                </a:solidFill>
              </a:rPr>
              <a:t>Higher limits</a:t>
            </a:r>
          </a:p>
          <a:p xmlns:a="http://schemas.openxmlformats.org/drawingml/2006/main">
            <a:pPr>
              <a:defRPr sz="1200">
                <a:solidFill>
                  <a:srgbClr val="EDE5FF"/>
                </a:solidFill>
              </a:defRPr>
            </a:pPr>
            <a:r>
              <a:rPr sz="1200">
                <a:solidFill>
                  <a:srgbClr val="EDE5FF"/>
                </a:solidFill>
              </a:rPr>
              <a:t>Advanced learning</a:t>
            </a:r>
          </a:p>
          <a:p xmlns:a="http://schemas.openxmlformats.org/drawingml/2006/main">
            <a:pPr>
              <a:defRPr sz="1200">
                <a:solidFill>
                  <a:srgbClr val="EDE5FF"/>
                </a:solidFill>
              </a:defRPr>
            </a:pPr>
            <a:r>
              <a:rPr sz="1200">
                <a:solidFill>
                  <a:srgbClr val="EDE5FF"/>
                </a:solidFill>
              </a:rPr>
              <a:t>Personal workspace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CDFFF7-B14B-497F-92F8-5B6CC0A6B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943350"/>
            <a:ext cx="31813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FF"/>
          </a:solidFill>
          <a:ln xmlns:a="http://schemas.openxmlformats.org/drawingml/2006/main" w="9525">
            <a:solidFill>
              <a:srgbClr val="E2E6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80E99E-E772-4A9B-8B6E-2C726F164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1910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4F2AA9"/>
                </a:solidFill>
              </a:defRPr>
            </a:pPr>
            <a:r>
              <a:rPr sz="825" b="1">
                <a:solidFill>
                  <a:srgbClr val="4F2AA9"/>
                </a:solidFill>
              </a:rPr>
              <a:t>TEAMS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35A0ED-05FE-4D5C-BB83-99F488588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533900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E172D"/>
                </a:solidFill>
              </a:defRPr>
            </a:pPr>
            <a:r>
              <a:rPr sz="1875" b="1">
                <a:solidFill>
                  <a:srgbClr val="1E172D"/>
                </a:solidFill>
              </a:rPr>
              <a:t>$8 / member / month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CBF252-2310-4E3F-983F-4DBCEAEDC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048250"/>
            <a:ext cx="2533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B5666"/>
                </a:solidFill>
              </a:defRPr>
            </a:pPr>
            <a:r>
              <a:rPr sz="1200">
                <a:solidFill>
                  <a:srgbClr val="4B5666"/>
                </a:solidFill>
              </a:rPr>
              <a:t>Two-seat minimum</a:t>
            </a:r>
          </a:p>
          <a:p xmlns:a="http://schemas.openxmlformats.org/drawingml/2006/main">
            <a:pPr>
              <a:defRPr sz="1200">
                <a:solidFill>
                  <a:srgbClr val="4B5666"/>
                </a:solidFill>
              </a:defRPr>
            </a:pPr>
            <a:r>
              <a:rPr sz="1200">
                <a:solidFill>
                  <a:srgbClr val="4B5666"/>
                </a:solidFill>
              </a:rPr>
              <a:t>Shared workspace</a:t>
            </a:r>
          </a:p>
          <a:p xmlns:a="http://schemas.openxmlformats.org/drawingml/2006/main">
            <a:pPr>
              <a:defRPr sz="1200">
                <a:solidFill>
                  <a:srgbClr val="4B5666"/>
                </a:solidFill>
              </a:defRPr>
            </a:pPr>
            <a:r>
              <a:rPr sz="1200">
                <a:solidFill>
                  <a:srgbClr val="4B5666"/>
                </a:solidFill>
              </a:rPr>
              <a:t>Centralized billing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A979E1-DBF2-4DF7-A80B-9C1408B95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00750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88294"/>
                </a:solidFill>
              </a:defRPr>
            </a:pPr>
            <a:r>
              <a:rPr sz="900">
                <a:solidFill>
                  <a:srgbClr val="788294"/>
                </a:solidFill>
              </a:rPr>
              <a:t>Team annual billing: $6/member/month, billed annually.</a:t>
            </a:r>
          </a:p>
        </p:txBody>
      </p:sp>
    </p:spTree>
    <p:extLst>
      <p:ext uri="{BB962C8B-B14F-4D97-AF65-F5344CB8AC3E}">
        <p14:creationId xmlns:p14="http://schemas.microsoft.com/office/powerpoint/2010/main" val="6863402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32DC5A-7213-4BB8-BB2A-B635F80B3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323850" cy="32385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6F45D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63bca026cd4497"/>
          <a:stretch xmlns:a="http://schemas.openxmlformats.org/drawingml/2006/main"/>
        </p:blipFill>
        <p:spPr>
          <a:xfrm xmlns:a="http://schemas.openxmlformats.org/drawingml/2006/main">
            <a:off x="714375" y="50482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C29704-5E25-4F09-8F39-BD9726B21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5300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E172D"/>
                </a:solidFill>
              </a:defRPr>
            </a:pPr>
            <a:r>
              <a:rPr sz="1575" b="1">
                <a:solidFill>
                  <a:srgbClr val="1E172D"/>
                </a:solidFill>
              </a:rPr>
              <a:t>unvibe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593585-E933-44E2-9F41-E15BFA2FF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333500"/>
            <a:ext cx="100013" cy="1000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45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8150FB-6AB1-4512-920D-27F3C69CB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6588" y="1333500"/>
            <a:ext cx="100013" cy="1000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45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E2E4F7-FD16-4918-A696-6420CB117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6588" y="1462088"/>
            <a:ext cx="100013" cy="1000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45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D3BF8D-D8C9-41F3-82DD-B0D44E76B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1462088"/>
            <a:ext cx="100013" cy="1000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45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4E6005-D638-4DEE-B55B-45F0BC9E4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462088"/>
            <a:ext cx="100013" cy="1000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45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439D1F-013B-4774-AB2E-BD931A3CE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6588" y="1590675"/>
            <a:ext cx="100013" cy="1000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45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55A353-6E77-43FE-8586-3FADBEAAB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1590675"/>
            <a:ext cx="100013" cy="1000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45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25B7E1-B7B7-4498-9C8C-0FCDB4A32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148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1B2FD5-7FA8-4F8B-8547-9D45B18BB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7148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0DBCF7-3E66-45EC-816B-6A2B4C746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8863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2F896A-FA9A-4DB3-81E0-A87E7C91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8863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C940AB-5499-4816-979E-737FE2F38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8863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335DF9-8D65-4755-868E-C4BB101D9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0577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74FFDD-990D-47DA-8E3C-13A622DD5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50577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0A5544-D652-4DCD-A0EE-DACCE429C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71650"/>
            <a:ext cx="7620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E172D"/>
                </a:solidFill>
              </a:defRPr>
            </a:pPr>
            <a:r>
              <a:rPr sz="4350" b="1">
                <a:solidFill>
                  <a:srgbClr val="1E172D"/>
                </a:solidFill>
              </a:rPr>
              <a:t>AI can write the code.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EF33E9-B0A7-4608-A540-AA894AEE6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800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i="1">
                <a:solidFill>
                  <a:srgbClr val="6F45D2"/>
                </a:solidFill>
              </a:defRPr>
            </a:pPr>
            <a:r>
              <a:rPr sz="4050" i="1">
                <a:solidFill>
                  <a:srgbClr val="6F45D2"/>
                </a:solidFill>
              </a:rPr>
              <a:t>Make sure it becomes yours.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653BAB-364F-4D1D-9D69-68D40F7FA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90950"/>
            <a:ext cx="2305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45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24062E-4714-49EF-9DE5-309D7831C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71925"/>
            <a:ext cx="1866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JOIN THE PRIVATE BETA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96A6A8-1588-45B2-A26A-7245DC751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B5666"/>
                </a:solidFill>
              </a:defRPr>
            </a:pPr>
            <a:r>
              <a:rPr sz="1200">
                <a:solidFill>
                  <a:srgbClr val="4B5666"/>
                </a:solidFill>
              </a:rPr>
              <a:t>Mac first · Free to join · Privacy and terms always available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C87C28-DECA-485F-91F6-C5C1922DC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10300"/>
            <a:ext cx="1524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F2AA9"/>
                </a:solidFill>
              </a:defRPr>
            </a:pPr>
            <a:r>
              <a:rPr sz="900" b="1">
                <a:solidFill>
                  <a:srgbClr val="4F2AA9"/>
                </a:solidFill>
              </a:rPr>
              <a:t>unvibe.site</a:t>
            </a:r>
          </a:p>
        </p:txBody>
      </p:sp>
    </p:spTree>
    <p:extLst>
      <p:ext uri="{BB962C8B-B14F-4D97-AF65-F5344CB8AC3E}">
        <p14:creationId xmlns:p14="http://schemas.microsoft.com/office/powerpoint/2010/main" val="2336054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2026-07-16T20:50:18.5730000Z</dcterms:created>
  <dcterms:modified xsi:type="dcterms:W3CDTF">2026-07-16T20:50:18.5730000Z</dcterms:modified>
</coreProperties>
</file>