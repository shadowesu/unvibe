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fceb3babf546f7" /><Relationship Type="http://schemas.openxmlformats.org/officeDocument/2006/relationships/extended-properties" Target="/docProps/app.xml" Id="Rbcd820201ebe4aa2" /><Relationship Type="http://schemas.openxmlformats.org/officeDocument/2006/relationships/officeDocument" Target="/ppt/presentation.xml" Id="R67f2d7d8700f4d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f0b6ca3c9645ec"/>
  </p:sldMasterIdLst>
  <p:notesMasterIdLst>
    <p:notesMasterId xmlns:r="http://schemas.openxmlformats.org/officeDocument/2006/relationships" r:id="R0d42710410274f0d"/>
  </p:notesMasterIdLst>
  <p:sldIdLst>
    <p:sldId xmlns:r="http://schemas.openxmlformats.org/officeDocument/2006/relationships" id="256" r:id="R862846cbe00445f7"/>
    <p:sldId xmlns:r="http://schemas.openxmlformats.org/officeDocument/2006/relationships" id="257" r:id="Rcc4472a0d9b24dbc"/>
    <p:sldId xmlns:r="http://schemas.openxmlformats.org/officeDocument/2006/relationships" id="258" r:id="R6cd7abc729f04a77"/>
    <p:sldId xmlns:r="http://schemas.openxmlformats.org/officeDocument/2006/relationships" id="259" r:id="Ra7cd47ad79334e4a"/>
    <p:sldId xmlns:r="http://schemas.openxmlformats.org/officeDocument/2006/relationships" id="260" r:id="R577d181a98e84293"/>
    <p:sldId xmlns:r="http://schemas.openxmlformats.org/officeDocument/2006/relationships" id="261" r:id="Ra925aa1afcbd413f"/>
    <p:sldId xmlns:r="http://schemas.openxmlformats.org/officeDocument/2006/relationships" id="262" r:id="Raaa3c33ee00e4943"/>
    <p:sldId xmlns:r="http://schemas.openxmlformats.org/officeDocument/2006/relationships" id="263" r:id="Rb427f59781c34c70"/>
    <p:sldId xmlns:r="http://schemas.openxmlformats.org/officeDocument/2006/relationships" id="264" r:id="Rd85f0855ccd9496f"/>
    <p:sldId xmlns:r="http://schemas.openxmlformats.org/officeDocument/2006/relationships" id="265" r:id="Rb46c51f8e4f14b12"/>
    <p:sldId xmlns:r="http://schemas.openxmlformats.org/officeDocument/2006/relationships" id="266" r:id="R54e360c680314527"/>
    <p:sldId xmlns:r="http://schemas.openxmlformats.org/officeDocument/2006/relationships" id="267" r:id="R42b6642abdcb4a9d"/>
    <p:sldId xmlns:r="http://schemas.openxmlformats.org/officeDocument/2006/relationships" id="268" r:id="Rea65ba578c11462f"/>
    <p:sldId xmlns:r="http://schemas.openxmlformats.org/officeDocument/2006/relationships" id="269" r:id="Rd2f231b1a85c49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0e12fb40c84c76" /><Relationship Type="http://schemas.openxmlformats.org/officeDocument/2006/relationships/slideMaster" Target="/ppt/slideMasters/slideMaster1.xml" Id="R79f0b6ca3c9645ec" /><Relationship Type="http://schemas.openxmlformats.org/officeDocument/2006/relationships/notesMaster" Target="/ppt/notesMasters/notesMaster1.xml" Id="R0d42710410274f0d" /><Relationship Type="http://schemas.openxmlformats.org/officeDocument/2006/relationships/presProps" Target="/ppt/presProps.xml" Id="R77dcba9aa9ca4780" /><Relationship Type="http://schemas.openxmlformats.org/officeDocument/2006/relationships/tableStyles" Target="/ppt/tableStyles.xml" Id="Rfaa2db28fea04028" /><Relationship Type="http://schemas.openxmlformats.org/officeDocument/2006/relationships/slide" Target="/ppt/slides/slide1.xml" Id="R862846cbe00445f7" /><Relationship Type="http://schemas.openxmlformats.org/officeDocument/2006/relationships/slide" Target="/ppt/slides/slide2.xml" Id="Rcc4472a0d9b24dbc" /><Relationship Type="http://schemas.openxmlformats.org/officeDocument/2006/relationships/slide" Target="/ppt/slides/slide3.xml" Id="R6cd7abc729f04a77" /><Relationship Type="http://schemas.openxmlformats.org/officeDocument/2006/relationships/slide" Target="/ppt/slides/slide4.xml" Id="Ra7cd47ad79334e4a" /><Relationship Type="http://schemas.openxmlformats.org/officeDocument/2006/relationships/slide" Target="/ppt/slides/slide5.xml" Id="R577d181a98e84293" /><Relationship Type="http://schemas.openxmlformats.org/officeDocument/2006/relationships/slide" Target="/ppt/slides/slide6.xml" Id="Ra925aa1afcbd413f" /><Relationship Type="http://schemas.openxmlformats.org/officeDocument/2006/relationships/slide" Target="/ppt/slides/slide7.xml" Id="Raaa3c33ee00e4943" /><Relationship Type="http://schemas.openxmlformats.org/officeDocument/2006/relationships/slide" Target="/ppt/slides/slide8.xml" Id="Rb427f59781c34c70" /><Relationship Type="http://schemas.openxmlformats.org/officeDocument/2006/relationships/slide" Target="/ppt/slides/slide9.xml" Id="Rd85f0855ccd9496f" /><Relationship Type="http://schemas.openxmlformats.org/officeDocument/2006/relationships/slide" Target="/ppt/slides/slide10.xml" Id="Rb46c51f8e4f14b12" /><Relationship Type="http://schemas.openxmlformats.org/officeDocument/2006/relationships/slide" Target="/ppt/slides/slide11.xml" Id="R54e360c680314527" /><Relationship Type="http://schemas.openxmlformats.org/officeDocument/2006/relationships/slide" Target="/ppt/slides/slide12.xml" Id="R42b6642abdcb4a9d" /><Relationship Type="http://schemas.openxmlformats.org/officeDocument/2006/relationships/slide" Target="/ppt/slides/slide13.xml" Id="Rea65ba578c11462f" /><Relationship Type="http://schemas.openxmlformats.org/officeDocument/2006/relationships/slide" Target="/ppt/slides/slide14.xml" Id="Rd2f231b1a85c49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1b986c67e244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ecff3214114ef0" /><Relationship Type="http://schemas.openxmlformats.org/officeDocument/2006/relationships/notesMaster" Target="/ppt/notesMasters/notesMaster1.xml" Id="Rdc1395b2c10442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bbbcd9883142e0" /><Relationship Type="http://schemas.openxmlformats.org/officeDocument/2006/relationships/notesMaster" Target="/ppt/notesMasters/notesMaster1.xml" Id="Rc7b85deb77e942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1fe724817340e1" /><Relationship Type="http://schemas.openxmlformats.org/officeDocument/2006/relationships/notesMaster" Target="/ppt/notesMasters/notesMaster1.xml" Id="Rc832008483bd46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a9b9df3f804f35" /><Relationship Type="http://schemas.openxmlformats.org/officeDocument/2006/relationships/notesMaster" Target="/ppt/notesMasters/notesMaster1.xml" Id="R82de7624e0f44d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b1c99bccdf4afe" /><Relationship Type="http://schemas.openxmlformats.org/officeDocument/2006/relationships/notesMaster" Target="/ppt/notesMasters/notesMaster1.xml" Id="R546e0d82533f47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be302850424a29" /><Relationship Type="http://schemas.openxmlformats.org/officeDocument/2006/relationships/notesMaster" Target="/ppt/notesMasters/notesMaster1.xml" Id="Rc7d8fea1d1994d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4d413cd4924533" /><Relationship Type="http://schemas.openxmlformats.org/officeDocument/2006/relationships/notesMaster" Target="/ppt/notesMasters/notesMaster1.xml" Id="Rcc115f0c975a4b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c3256dcaaa4f25" /><Relationship Type="http://schemas.openxmlformats.org/officeDocument/2006/relationships/notesMaster" Target="/ppt/notesMasters/notesMaster1.xml" Id="Re43adf17159f42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08eb125fc64f5b" /><Relationship Type="http://schemas.openxmlformats.org/officeDocument/2006/relationships/notesMaster" Target="/ppt/notesMasters/notesMaster1.xml" Id="R0655fefab5684a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4a9bcac4e74129" /><Relationship Type="http://schemas.openxmlformats.org/officeDocument/2006/relationships/notesMaster" Target="/ppt/notesMasters/notesMaster1.xml" Id="Ra388c10d75f242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b0d7b5a4f34f20" /><Relationship Type="http://schemas.openxmlformats.org/officeDocument/2006/relationships/notesMaster" Target="/ppt/notesMasters/notesMaster1.xml" Id="R2b89bcc6476148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f5b6a4c38049b4" /><Relationship Type="http://schemas.openxmlformats.org/officeDocument/2006/relationships/notesMaster" Target="/ppt/notesMasters/notesMaster1.xml" Id="Rc2a353ca593843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9ebf24db1d4f03" /><Relationship Type="http://schemas.openxmlformats.org/officeDocument/2006/relationships/notesMaster" Target="/ppt/notesMasters/notesMaster1.xml" Id="Rd39ffd79535f44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350345b09e4019" /><Relationship Type="http://schemas.openxmlformats.org/officeDocument/2006/relationships/notesMaster" Target="/ppt/notesMasters/notesMaster1.xml" Id="R2584446c910942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category: AI code generation is abundant; code ownership is becoming scarce.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product screenshot: /Users/prestonjaysusanto/Desktop/Unvibe Resources/new app/Screenshot 2026-08-17 at 6.50.24 PM.png</a:t>
            </a:r>
          </a:p>
          <a:p xmlns:a="http://schemas.openxmlformats.org/drawingml/2006/main">
            <a:r>
              <a:t>- Brand asset: /Users/prestonjaysusanto/Unvibe/marketing/public/brand/icon-1024.png</a:t>
            </a:r>
          </a:p>
          <a:p xmlns:a="http://schemas.openxmlformats.org/drawingml/2006/main">
            <a:r>
              <a:t>- Prior pitch source: /Users/prestonjaysusanto/Desktop/Unvibe Resources/Unvibe_Pitch_Deck.pdf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 a structural market shift, not a temporary feature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https://survey.stackoverflow.co/2025/ai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full loop in under 30 seconds. Emphasize that Unvibe is not another generator.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/Users/prestonjaysusanto/Unvibe/AGENTS.md</a:t>
            </a:r>
          </a:p>
          <a:p xmlns:a="http://schemas.openxmlformats.org/drawingml/2006/main">
            <a:r>
              <a:t>- /Users/prestonjaysusanto/Unvibe/docs/architecture.md</a:t>
            </a:r>
          </a:p>
          <a:p xmlns:a="http://schemas.openxmlformats.org/drawingml/2006/main">
            <a:r>
              <a:t>- /Users/prestonjaysusanto/Unvibe/docs/privacy.md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current product screenshots, not mockups. Walk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/Users/prestonjaysusanto/Desktop/Unvibe Resources/new app/Screenshot 2026-08-17 at 6.50.21 PM.png</a:t>
            </a:r>
          </a:p>
          <a:p xmlns:a="http://schemas.openxmlformats.org/drawingml/2006/main">
            <a:r>
              <a:t>- User-provided screenshot: /Users/prestonjaysusanto/Desktop/Unvibe Resources/new app/Screenshot 2026-08-17 at 6.50.10 PM.png</a:t>
            </a:r>
          </a:p>
          <a:p xmlns:a="http://schemas.openxmlformats.org/drawingml/2006/main">
            <a:r>
              <a:t>- User-provided screenshot: /Users/prestonjaysusanto/Desktop/Unvibe Resources/new app/Screenshot 2026-08-17 at 6.50.17 PM.png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strategic asset is the longitudinal learning graph, not the one-off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/Users/prestonjaysusanto/Desktop/Unvibe Resources/new app/Screenshot 2026-08-17 at 6.50.24 PM.png</a:t>
            </a:r>
          </a:p>
          <a:p xmlns:a="http://schemas.openxmlformats.org/drawingml/2006/main">
            <a:r>
              <a:t>- /Users/prestonjaysusanto/Unvibe/AGENTS.md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Unvibe against adjacent categories without claiming feature-for-feature parity.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Prior competition framing: /Users/prestonjaysusanto/Desktop/Unvibe Resources/Unvibe_Pitch_Deck.pdf</a:t>
            </a:r>
          </a:p>
          <a:p xmlns:a="http://schemas.openxmlformats.org/drawingml/2006/main">
            <a:r>
              <a:t>- /Users/prestonjaysusanto/Unvibe/AGENTS.md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external proof, then show qualitative retention signals. Do not present credits as 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https://smolstartup.com/projects/unvibe</a:t>
            </a:r>
          </a:p>
          <a:p xmlns:a="http://schemas.openxmlformats.org/drawingml/2006/main">
            <a:r>
              <a:t>- https://unvibe.site/api/stats?include=waitlist</a:t>
            </a:r>
          </a:p>
          <a:p xmlns:a="http://schemas.openxmlformats.org/drawingml/2006/main">
            <a:r>
              <a:t>- User-provided beta feedback: Sharice Gustian, 29 Jul 2026</a:t>
            </a:r>
          </a:p>
          <a:p xmlns:a="http://schemas.openxmlformats.org/drawingml/2006/main">
            <a:r>
              <a:t>- User-provided beta feedback: Om Anand Khaunte, 25 Jul 2026</a:t>
            </a:r>
          </a:p>
          <a:p xmlns:a="http://schemas.openxmlformats.org/drawingml/2006/main">
            <a:r>
              <a:t>- Founder-reported historical early-access total supplied in this request; live store count checked 31 Aug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a credible beachhead before discussing enterprise expansion.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https://survey.stackoverflow.co/2025/ai</a:t>
            </a:r>
          </a:p>
          <a:p xmlns:a="http://schemas.openxmlformats.org/drawingml/2006/main">
            <a:r>
              <a:t>- Market framing adapted from /Users/prestonjaysusanto/Desktop/Unvibe Resources/Unvibe_Pitch_Deck.pdf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monetization clarity while separating currently available tiers from planned tiers.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/Users/prestonjaysusanto/Unvibe/marketing/src/components/redesign/PricingPlans.tsx</a:t>
            </a:r>
          </a:p>
          <a:p xmlns:a="http://schemas.openxmlformats.org/drawingml/2006/main">
            <a:r>
              <a:t>- /Users/prestonjaysusanto/Unvibe/marketing/src/data/faq.ts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go-to-market strategy is community-led and measurable, not paid acquisition 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/Users/prestonjaysusanto/Unvibe/marketing/src/data/listings.ts</a:t>
            </a:r>
          </a:p>
          <a:p xmlns:a="http://schemas.openxmlformats.org/drawingml/2006/main">
            <a:r>
              <a:t>- https://smolstartup.com/projects/unvibe</a:t>
            </a:r>
          </a:p>
          <a:p xmlns:a="http://schemas.openxmlformats.org/drawingml/2006/main">
            <a:r>
              <a:t>- https://www.producthunt.com/products/unvibe?launch=unvibe</a:t>
            </a:r>
          </a:p>
          <a:p xmlns:a="http://schemas.openxmlformats.org/drawingml/2006/main">
            <a:r>
              <a:t>- https://dev.to/preston_jaysusanto_22498/how-to-review-ai-generated-code-without-losing-ownership-of-your-project-ndl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founder signal: speed with a functioning product and reliability work, not a prototype-only sprint.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/Users/prestonjaysusanto/Unvibe/marketing/src/data/milestones.ts</a:t>
            </a:r>
          </a:p>
          <a:p xmlns:a="http://schemas.openxmlformats.org/drawingml/2006/main">
            <a:r>
              <a:t>- Repository git history in /Users/prestonjaysusanto/Unvibe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credits are operating leverage, not fundraising 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/Users/prestonjaysusanto/Unvibe/marketing/src/data/compensation.ts</a:t>
            </a:r>
          </a:p>
          <a:p xmlns:a="http://schemas.openxmlformats.org/drawingml/2006/main">
            <a:r>
              <a:t>- /Users/prestonjaysusanto/Unvibe/marketing/src/data/milestones.ts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ask preserves the range from the original deck while tying it to concrete milestones.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Prior ask and roadmap: /Users/prestonjaysusanto/Desktop/Unvibe Resources/Unvibe_Pitch_Deck.pdf</a:t>
            </a:r>
          </a:p>
          <a:p xmlns:a="http://schemas.openxmlformats.org/drawingml/2006/main">
            <a:r>
              <a:t>- /Users/prestonjaysusanto/Unvibe/AGENTS.md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founder-market fit and the category ambition.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 biography adapted from /Users/prestonjaysusanto/Desktop/Unvibe Resources/Unvibe_Pitch_Deck.pdf</a:t>
            </a:r>
          </a:p>
          <a:p xmlns:a="http://schemas.openxmlformats.org/drawingml/2006/main">
            <a:r>
              <a:t>- Brand asset: /Users/prestonjaysusanto/Unvibe/marketing/public/brand/icon-1024.png</a:t>
            </a:r>
          </a:p>
          <a:p xmlns:a="http://schemas.openxmlformats.org/drawingml/2006/main">
            <a:r>
              <a:t>- https://unvibe.site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957f1739664e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62245c295a40a4" /><Relationship Type="http://schemas.openxmlformats.org/officeDocument/2006/relationships/slideLayout" Target="/ppt/slideLayouts/slideLayout1.xml" Id="Rc3ec2650144143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ec2650144143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5df0f096b4b09" /><Relationship Type="http://schemas.openxmlformats.org/officeDocument/2006/relationships/image" Target="/ppt/media/image.png" Id="Rf5fb88ee8e724f89" /><Relationship Type="http://schemas.openxmlformats.org/officeDocument/2006/relationships/image" Target="/ppt/media/image2.png" Id="Rd85c310871ef4e0f" /><Relationship Type="http://schemas.openxmlformats.org/officeDocument/2006/relationships/notesSlide" Target="/ppt/notesSlides/notesSlide1.xml" Id="R22ceb6a99c8f44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cdd580feb4e1b" /><Relationship Type="http://schemas.openxmlformats.org/officeDocument/2006/relationships/notesSlide" Target="/ppt/notesSlides/notesSlide2.xml" Id="Rcc5c8231eaae44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2d9b8ad6b4927" /><Relationship Type="http://schemas.openxmlformats.org/officeDocument/2006/relationships/notesSlide" Target="/ppt/notesSlides/notesSlide3.xml" Id="R4fd976e06e3044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5d43316be4d3a" /><Relationship Type="http://schemas.openxmlformats.org/officeDocument/2006/relationships/image" Target="/ppt/media/image3.png" Id="R33511b8fddce4354" /><Relationship Type="http://schemas.openxmlformats.org/officeDocument/2006/relationships/image" Target="/ppt/media/image4.png" Id="Rddde484470d94814" /><Relationship Type="http://schemas.openxmlformats.org/officeDocument/2006/relationships/image" Target="/ppt/media/image5.png" Id="R73a6ae491e394d56" /><Relationship Type="http://schemas.openxmlformats.org/officeDocument/2006/relationships/notesSlide" Target="/ppt/notesSlides/notesSlide4.xml" Id="R4f499de5964143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317d7aa954252" /><Relationship Type="http://schemas.openxmlformats.org/officeDocument/2006/relationships/image" Target="/ppt/media/image6.png" Id="R8d12609b94d2498c" /><Relationship Type="http://schemas.openxmlformats.org/officeDocument/2006/relationships/notesSlide" Target="/ppt/notesSlides/notesSlide5.xml" Id="R12fabf3959dc42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a0f071ab249d3" /><Relationship Type="http://schemas.openxmlformats.org/officeDocument/2006/relationships/notesSlide" Target="/ppt/notesSlides/notesSlide6.xml" Id="Re1299db1f80645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c90c3988841b4" /><Relationship Type="http://schemas.openxmlformats.org/officeDocument/2006/relationships/notesSlide" Target="/ppt/notesSlides/notesSlide7.xml" Id="R7c6a66e9f45146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8e96fb5ef49e1" /><Relationship Type="http://schemas.openxmlformats.org/officeDocument/2006/relationships/notesSlide" Target="/ppt/notesSlides/notesSlide8.xml" Id="R960989ccccb546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91cbfbea145ea" /><Relationship Type="http://schemas.openxmlformats.org/officeDocument/2006/relationships/notesSlide" Target="/ppt/notesSlides/notesSlide9.xml" Id="R2dd2440fe46540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4c7cadeee4f52" /><Relationship Type="http://schemas.openxmlformats.org/officeDocument/2006/relationships/notesSlide" Target="/ppt/notesSlides/notesSlide10.xml" Id="Re525d3bdc7bf4b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3c1ba89674a06" /><Relationship Type="http://schemas.openxmlformats.org/officeDocument/2006/relationships/notesSlide" Target="/ppt/notesSlides/notesSlide11.xml" Id="R3e49ca1c86b942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e808fb15849ae" /><Relationship Type="http://schemas.openxmlformats.org/officeDocument/2006/relationships/notesSlide" Target="/ppt/notesSlides/notesSlide12.xml" Id="Rb4dea98e9b3144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e22a8a3e142dc" /><Relationship Type="http://schemas.openxmlformats.org/officeDocument/2006/relationships/notesSlide" Target="/ppt/notesSlides/notesSlide13.xml" Id="Re05b911c924248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bfd7cc42d486b" /><Relationship Type="http://schemas.openxmlformats.org/officeDocument/2006/relationships/image" Target="/ppt/media/image7.png" Id="R133977d32ec544bc" /><Relationship Type="http://schemas.openxmlformats.org/officeDocument/2006/relationships/notesSlide" Target="/ppt/notesSlides/notesSlide14.xml" Id="R964237b6753445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5F881-29AF-42C8-A28E-AB31C932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DD1E0-5656-49F9-926C-F77DE249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68919-7C11-4D77-A429-23A4ED3D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93C86-E93A-47F9-98F0-BBBB087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PRIVATE MAC BETA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49A0F-04C5-49B7-B5EC-1810CF45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AB531-DAF5-412B-AF1A-02958CDB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FFFDF9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b88ee8e724f89"/>
          <a:stretch xmlns:a="http://schemas.openxmlformats.org/drawingml/2006/main"/>
        </p:blipFill>
        <p:spPr>
          <a:xfrm xmlns:a="http://schemas.openxmlformats.org/drawingml/2006/main">
            <a:off x="685800" y="533400"/>
            <a:ext cx="323850" cy="323850"/>
          </a:xfrm>
          <a:prstGeom xmlns:a="http://schemas.openxmlformats.org/drawingml/2006/main" prst="roundRect">
            <a:avLst>
              <a:gd name="adj" fmla="val 1764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43EB2-4AE7-4487-8E1E-18DEE9AD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DF9"/>
                </a:solidFill>
              </a:defRPr>
            </a:pPr>
            <a:r>
              <a:rPr sz="825" b="1" i="0">
                <a:solidFill>
                  <a:srgbClr val="FFFDF9"/>
                </a:solidFill>
              </a:rPr>
              <a:t>UNVIBE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822F2-83C5-48A5-A10A-DE140E65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THE OWNERSHIP LAYER FOR AI-WRITTEN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A8CF8-07BE-4D41-92E6-816B62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524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DF9"/>
                </a:solidFill>
              </a:defRPr>
            </a:pPr>
            <a:r>
              <a:rPr sz="3750" b="1" i="0">
                <a:solidFill>
                  <a:srgbClr val="FFFDF9"/>
                </a:solidFill>
              </a:rPr>
              <a:t>AI writes the code.</a:t>
            </a:r>
          </a:p>
          <a:p xmlns:a="http://schemas.openxmlformats.org/drawingml/2006/main">
            <a:pPr algn="l">
              <a:defRPr sz="3750" b="1" i="0">
                <a:solidFill>
                  <a:srgbClr val="FFFDF9"/>
                </a:solidFill>
              </a:defRPr>
            </a:pPr>
            <a:r>
              <a:rPr sz="3750" b="1" i="0">
                <a:solidFill>
                  <a:srgbClr val="FFFDF9"/>
                </a:solidFill>
              </a:rPr>
              <a:t>Unvibe makes it yours.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EC31A-5BBE-4F26-B741-7B17FD55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095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8AABD"/>
                </a:solidFill>
              </a:defRPr>
            </a:pPr>
            <a:r>
              <a:rPr sz="1425" b="0" i="0">
                <a:solidFill>
                  <a:srgbClr val="B8AABD"/>
                </a:solidFill>
              </a:rPr>
              <a:t>A Mac-first learning layer that turns AI-generated changes into understanding, proof, and retained project knowledge.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908B5-3F96-450E-AE17-F4B98E31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638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7446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D5302-D66A-4AF5-A326-29EC3292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3448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SELECT → EXPLAIN → ASK → TEST →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B9E47-749F-4D9C-AFD2-B4E5A17E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Preston Susanto · Founder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B5E33-E912-4488-9266-99354756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66A7D"/>
                </a:solidFill>
              </a:defRPr>
            </a:pPr>
            <a:r>
              <a:rPr sz="825" b="0" i="0">
                <a:solidFill>
                  <a:srgbClr val="766A7D"/>
                </a:solidFill>
              </a:rPr>
              <a:t>Private beta · August 2026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c310871ef4e0f"/>
          <a:srcRect xmlns:a="http://schemas.openxmlformats.org/drawingml/2006/main" l="16979" t="0" r="169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990600"/>
            <a:ext cx="4762500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</p:spTree>
    <p:extLst>
      <p:ext uri="{BB962C8B-B14F-4D97-AF65-F5344CB8AC3E}">
        <p14:creationId xmlns:p14="http://schemas.microsoft.com/office/powerpoint/2010/main" val="1113269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29E6A-EC11-452A-A2A2-61F51832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04DA2-B0E0-4915-B103-63AF3D98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7C044-D5F4-41A3-AC79-7AB79D3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CB17A-7924-4019-B7AF-897E30CA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BC5A3-99A7-4CED-BB80-7BAE5698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8AE70-C4DB-4C27-81A0-1BF71C00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A98A7-F895-4744-B1E5-DEECE96D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WHY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88C82-07D4-400D-B52D-E5667FEE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590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AI accelerates output.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Understanding falls behind.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DA8D1-1964-4967-B4B6-9916D4A5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AABD"/>
                </a:solidFill>
              </a:defRPr>
            </a:pPr>
            <a:r>
              <a:rPr sz="1350" b="0" i="0">
                <a:solidFill>
                  <a:srgbClr val="B8AABD"/>
                </a:solidFill>
              </a:rPr>
              <a:t>The bottleneck moved from generating code to verifying, explaining, and remembering what shipped.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4B134-2D54-467D-BC3A-92C07130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A57BF3"/>
                </a:solidFill>
              </a:defRPr>
            </a:pPr>
            <a:r>
              <a:rPr sz="2850" b="1" i="0">
                <a:solidFill>
                  <a:srgbClr val="A57BF3"/>
                </a:solidFill>
              </a:rPr>
              <a:t>84%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D8563-48A3-4D70-A6A3-92088444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use or plan to use AI in 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71674-654E-4F98-863A-4E32A8DB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E65CA7"/>
                </a:solidFill>
              </a:defRPr>
            </a:pPr>
            <a:r>
              <a:rPr sz="2850" b="1" i="0">
                <a:solidFill>
                  <a:srgbClr val="E65CA7"/>
                </a:solidFill>
              </a:rPr>
              <a:t>66%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FFA1D-92C6-445B-A248-77B7780C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say AI answers are almost right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BEB8F-462F-4C17-994B-0A8EA461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86D3D"/>
                </a:solidFill>
              </a:defRPr>
            </a:pPr>
            <a:r>
              <a:rPr sz="2850" b="1" i="0">
                <a:solidFill>
                  <a:srgbClr val="D86D3D"/>
                </a:solidFill>
              </a:rPr>
              <a:t>45%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FDC1F-4A8B-44DE-9452-7E0F5388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29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spend longer debugging AI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1138F-5A30-464F-BC2F-FB372955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3F65E8"/>
                </a:solidFill>
              </a:defRPr>
            </a:pPr>
            <a:r>
              <a:rPr sz="2850" b="1" i="0">
                <a:solidFill>
                  <a:srgbClr val="3F65E8"/>
                </a:solidFill>
              </a:rPr>
              <a:t>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17709-4364-4338-BED3-66E7A562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29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highly trust AI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D0969-BB0C-4021-A54C-C9AF8A86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0012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A084F-1311-491A-B44C-D47305DB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DF9"/>
                </a:solidFill>
              </a:defRPr>
            </a:pPr>
            <a:r>
              <a:rPr sz="2025" b="1" i="0">
                <a:solidFill>
                  <a:srgbClr val="FFFDF9"/>
                </a:solidFill>
              </a:rPr>
              <a:t>Generation is solved. Ownership is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2BAB6-39E8-46CC-A64B-9A387110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244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That gap becomes a learning, reliability, and governance problem.</a:t>
            </a:r>
          </a:p>
        </p:txBody>
      </p:sp>
    </p:spTree>
    <p:extLst>
      <p:ext uri="{BB962C8B-B14F-4D97-AF65-F5344CB8AC3E}">
        <p14:creationId xmlns:p14="http://schemas.microsoft.com/office/powerpoint/2010/main" val="1762268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D64FD8-7DDC-42CF-A290-CDC3771A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01263-C7B0-472A-99D0-E169598C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A36BC-C215-45F6-84B0-96A32608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BEFC6-D9F7-4649-A200-8A74E34A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1215D-6F8E-4E32-BC2D-4FA93CDA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18282-0064-4CE2-8BBD-609E7689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2C5E8-5D18-4126-A17A-C993BD5B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4A3DA-797B-46AF-B5DC-39F1541D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A quiet review loop,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inside the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A6D74-A28D-4B18-9CE0-12B1CDAA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AABD"/>
                </a:solidFill>
              </a:defRPr>
            </a:pPr>
            <a:r>
              <a:rPr sz="1350" b="0" i="0">
                <a:solidFill>
                  <a:srgbClr val="B8AABD"/>
                </a:solidFill>
              </a:rPr>
              <a:t>Highlight code in Cursor or VS Code, press ⌘U, and get a contextual explanation without leaving the project.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752C0-DBC3-4BBE-B2E2-634823EC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8669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8AD41-9C93-4313-80FB-B2E030FE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0D3B1-FA50-4C78-80A9-F8D8DED9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53238-8610-4726-9308-9ED5A350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Exact code, file, or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405A1-C70E-404B-820B-D0D81B7C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6A7D"/>
                </a:solidFill>
              </a:defRPr>
            </a:pPr>
            <a:r>
              <a:rPr sz="1125" b="0" i="0">
                <a:solidFill>
                  <a:srgbClr val="766A7D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8828D-82C0-4007-B428-EC077E87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19500"/>
            <a:ext cx="18669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24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D4F06-4787-4C23-A157-0B0F554A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AD929-E6C7-45EF-BC9B-B44DE62F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0FBDB-433D-46FA-B312-B2D84FF5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Five depth levels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EBEB1-ACDE-4304-AEB9-C88C8918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6A7D"/>
                </a:solidFill>
              </a:defRPr>
            </a:pPr>
            <a:r>
              <a:rPr sz="1125" b="0" i="0">
                <a:solidFill>
                  <a:srgbClr val="766A7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DE560-8A02-4471-942A-B51034A0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18669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3EDA4-4AEE-431F-A8F5-EBD920DB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90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601B9-550D-4177-A945-B35E5D00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33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568DC5-C72B-4824-B6D9-F5F8E69D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529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Context-aware follow-up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4A296-634F-40A2-AA36-0090C62D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6A7D"/>
                </a:solidFill>
              </a:defRPr>
            </a:pPr>
            <a:r>
              <a:rPr sz="1125" b="0" i="0">
                <a:solidFill>
                  <a:srgbClr val="766A7D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726836-88AC-4357-AC24-A9686C7B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19500"/>
            <a:ext cx="18669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71320-2143-41F7-8AAD-AE8404E2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90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7908D0-EDB2-4354-A9C3-96E931D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33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723603-1E97-4A36-BCE0-2263C881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529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One comprehension 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F9A8AC-942D-4588-9169-A806A799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66A7D"/>
                </a:solidFill>
              </a:defRPr>
            </a:pPr>
            <a:r>
              <a:rPr sz="1125" b="0" i="0">
                <a:solidFill>
                  <a:srgbClr val="766A7D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666DB4-A685-427F-8511-23ABFA0E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19500"/>
            <a:ext cx="18669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D4D8C4-8FBC-4EC9-9D02-EF80B649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90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6BDD8F-5635-4116-B449-EA17DF0B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33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SAVE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047772-4C66-4BCF-862E-0C5F0CB2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529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Learning becomes history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FD2D01-D061-4842-A720-090A6D60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B67C8F-4FDA-40D7-90EA-DB3C2BBD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4BC084"/>
                </a:solidFill>
              </a:defRPr>
            </a:pPr>
            <a:r>
              <a:rPr sz="750" b="1" i="0">
                <a:solidFill>
                  <a:srgbClr val="4BC084"/>
                </a:solidFill>
              </a:rPr>
              <a:t>LOCAL SECRET FILTER BEFORE EVERY REMOTE REQUEST</a:t>
            </a:r>
          </a:p>
        </p:txBody>
      </p:sp>
    </p:spTree>
    <p:extLst>
      <p:ext uri="{BB962C8B-B14F-4D97-AF65-F5344CB8AC3E}">
        <p14:creationId xmlns:p14="http://schemas.microsoft.com/office/powerpoint/2010/main" val="1169749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86002-5789-468E-8A0D-936535C9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51205-AFDB-4D94-BB52-6248CCCB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2E5B1-9DBF-45C3-884B-37D5C873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0A5A4-FBA9-44DE-A9C9-1D2AC8FC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47CC8-0559-4A73-96AF-2CA750E6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04A28-CE54-4BF5-B04E-50DD8AFD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F7D96-C818-4633-B642-E6F5502C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PRODUCT IN HANDS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A7B40-42C2-47B9-8CE0-8E40CC9B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9"/>
                </a:solidFill>
              </a:defRPr>
            </a:pPr>
            <a:r>
              <a:rPr sz="3000" b="1" i="0">
                <a:solidFill>
                  <a:srgbClr val="FFFDF9"/>
                </a:solidFill>
              </a:rPr>
              <a:t>One layer. Three moments of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C7922-92CB-4E7A-9797-3BAAA092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AABD"/>
                </a:solidFill>
              </a:defRPr>
            </a:pPr>
            <a:r>
              <a:rPr sz="1350" b="0" i="0">
                <a:solidFill>
                  <a:srgbClr val="B8AABD"/>
                </a:solidFill>
              </a:rPr>
              <a:t>Review the change now. Revisit it later. Prove you retained it.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11b8fddce4354"/>
          <a:srcRect xmlns:a="http://schemas.openxmlformats.org/drawingml/2006/main" l="19771" t="0" r="19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0505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e484470d94814"/>
          <a:srcRect xmlns:a="http://schemas.openxmlformats.org/drawingml/2006/main" l="16966" t="0" r="16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230505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6ae491e394d56"/>
          <a:srcRect xmlns:a="http://schemas.openxmlformats.org/drawingml/2006/main" l="16837" t="0" r="168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230505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6E4B9-7E0B-4550-A481-A74122A4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81675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172F"/>
          </a:solidFill>
          <a:ln xmlns:a="http://schemas.openxmlformats.org/drawingml/2006/main" w="9525">
            <a:solidFill>
              <a:srgbClr val="7446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09D79-CE30-484D-8CC2-4FD7C493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57875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023C8-A205-4AB9-8E11-99C1E558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781675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172F"/>
          </a:solidFill>
          <a:ln xmlns:a="http://schemas.openxmlformats.org/drawingml/2006/main" w="9525">
            <a:solidFill>
              <a:srgbClr val="7446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6AF43-9E1A-4042-AB06-29533700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857875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RETAIN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685B1-756D-4737-BE52-AF7DC7FF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781675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172F"/>
          </a:solidFill>
          <a:ln xmlns:a="http://schemas.openxmlformats.org/drawingml/2006/main" w="9525">
            <a:solidFill>
              <a:srgbClr val="7446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577B3-FF5E-47D3-85A5-3FC40E4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857875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PROVE</a:t>
            </a:r>
          </a:p>
        </p:txBody>
      </p:sp>
    </p:spTree>
    <p:extLst>
      <p:ext uri="{BB962C8B-B14F-4D97-AF65-F5344CB8AC3E}">
        <p14:creationId xmlns:p14="http://schemas.microsoft.com/office/powerpoint/2010/main" val="654933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43D6E6-7535-4ABA-8847-B0BA9BBF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FA6A0-F748-42A2-AEF0-57B7BC6A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5799D-CEA2-4FE7-9272-BDE54E44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0C011-9FBB-4B4A-9374-B027A2C4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ED93F-151B-440E-ABC0-7F7AB9C8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A130-C01D-4EB9-BAB2-42588CF5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B993F-E321-4C6C-86D4-24CA240B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THE COMPOUNDING ASSET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F8563-6948-4680-8D63-CFEB688C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9"/>
                </a:solidFill>
              </a:defRPr>
            </a:pPr>
            <a:r>
              <a:rPr sz="3000" b="1" i="0">
                <a:solidFill>
                  <a:srgbClr val="FFFDF9"/>
                </a:solidFill>
              </a:rPr>
              <a:t>Every explanation becomes</a:t>
            </a:r>
          </a:p>
          <a:p xmlns:a="http://schemas.openxmlformats.org/drawingml/2006/main">
            <a:pPr algn="l">
              <a:defRPr sz="3000" b="1" i="0">
                <a:solidFill>
                  <a:srgbClr val="FFFDF9"/>
                </a:solidFill>
              </a:defRPr>
            </a:pPr>
            <a:r>
              <a:rPr sz="3000" b="1" i="0">
                <a:solidFill>
                  <a:srgbClr val="FFFDF9"/>
                </a:solidFill>
              </a:rPr>
              <a:t>a learning record.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A909F-E3AE-448E-B886-870B970B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AABD"/>
                </a:solidFill>
              </a:defRPr>
            </a:pPr>
            <a:r>
              <a:rPr sz="1275" b="0" i="0">
                <a:solidFill>
                  <a:srgbClr val="B8AABD"/>
                </a:solidFill>
              </a:rPr>
              <a:t>Most AI tools forget the project when the chat closes. Unvibe turns review into durable, measurable knowledge.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8B972-96D7-4FB4-83F4-86F906EC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B20E5-AD8D-4570-95D0-2B40DB6B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DF9"/>
                </a:solidFill>
              </a:defRPr>
            </a:pPr>
            <a:r>
              <a:rPr sz="1125" b="1" i="0">
                <a:solidFill>
                  <a:srgbClr val="FFFDF9"/>
                </a:solidFill>
              </a:rPr>
              <a:t>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7F9F8-B678-4BBA-A124-61918935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29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What was reviewed and understood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E58D7-EEF1-4B43-9F13-3D616AC6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40000-BF30-4912-9FB6-D2BB9614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0267E-4537-46C0-AE3A-B88BA38A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DF9"/>
                </a:solidFill>
              </a:defRPr>
            </a:pPr>
            <a:r>
              <a:rPr sz="1125" b="1" i="0">
                <a:solidFill>
                  <a:srgbClr val="FFFDF9"/>
                </a:solidFill>
              </a:rPr>
              <a:t>Concepts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39A6B-2014-40AF-AA35-419CAC26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19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Patterns that still need practice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882C2-57EF-4156-9B93-9791D8E8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EBD9D-0A44-4777-9CE0-E182E381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68912-BF77-43A0-AEE6-063ACEF9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DF9"/>
                </a:solidFill>
              </a:defRPr>
            </a:pPr>
            <a:r>
              <a:rPr sz="1125" b="1" i="0">
                <a:solidFill>
                  <a:srgbClr val="FFFDF9"/>
                </a:solidFill>
              </a:rPr>
              <a:t>Streaks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BB7A8-D19D-422D-AB9F-67D14B4D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10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A visible habit of code ownership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766FF-AD36-4167-BD6A-DEEBED00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F8DE0-7386-481C-83CB-0C3F8F23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CDE06-3732-479A-A91A-59A24000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DF9"/>
                </a:solidFill>
              </a:defRPr>
            </a:pPr>
            <a:r>
              <a:rPr sz="1125" b="1" i="0">
                <a:solidFill>
                  <a:srgbClr val="FFFDF9"/>
                </a:solidFill>
              </a:rPr>
              <a:t>Progress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F26FA3-7AC3-4B40-9DC3-DAC8B948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00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Lines reviewed versus understood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1BF56B-F6DD-4850-B19D-2FCEE10C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2609b94d2498c"/>
          <a:srcRect xmlns:a="http://schemas.openxmlformats.org/drawingml/2006/main" l="14337" t="0" r="14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066800"/>
            <a:ext cx="5143500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</p:spTree>
    <p:extLst>
      <p:ext uri="{BB962C8B-B14F-4D97-AF65-F5344CB8AC3E}">
        <p14:creationId xmlns:p14="http://schemas.microsoft.com/office/powerpoint/2010/main" val="1314050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77465-A539-4798-B57C-69FCA01C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31636-B1FC-4534-A40A-6CEDB974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4C380-89E4-411C-931B-C8AEDF0D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A81A7-6BE1-4DBD-947B-17B7322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C87D5-F0B6-46AE-8F68-A3D92006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3C6B5-F99A-4BB4-897B-04A26FEF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EDA0A-1BCC-4029-9528-92F7AA06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POSITIONING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E640B-FA5B-4019-813A-61352DA6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DF9"/>
                </a:solidFill>
              </a:defRPr>
            </a:pPr>
            <a:r>
              <a:rPr sz="3075" b="1" i="0">
                <a:solidFill>
                  <a:srgbClr val="FFFDF9"/>
                </a:solidFill>
              </a:rPr>
              <a:t>Not another generator.</a:t>
            </a:r>
          </a:p>
          <a:p xmlns:a="http://schemas.openxmlformats.org/drawingml/2006/main">
            <a:pPr algn="l">
              <a:defRPr sz="3075" b="1" i="0">
                <a:solidFill>
                  <a:srgbClr val="FFFDF9"/>
                </a:solidFill>
              </a:defRPr>
            </a:pPr>
            <a:r>
              <a:rPr sz="3075" b="1" i="0">
                <a:solidFill>
                  <a:srgbClr val="FFFDF9"/>
                </a:solidFill>
              </a:rPr>
              <a:t>The layer that makes it stick.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D062B-0A39-4A29-AF38-ED478097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572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CFA9F-8C88-4088-9626-D0EA3CB7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Coding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573E3-DE24-4E46-9A08-9563F583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051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Generate and edit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EA5F7-AC46-4F6D-AAB3-7DBC93B8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66A7D"/>
                </a:solidFill>
              </a:defRPr>
            </a:pPr>
            <a:r>
              <a:rPr sz="975" b="0" i="0">
                <a:solidFill>
                  <a:srgbClr val="766A7D"/>
                </a:solidFill>
              </a:rPr>
              <a:t>Do not build learning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4E789-501E-4C87-AD63-8D8D3AA8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572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AA8AF-0A7B-4623-945A-78BA2588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Generic chat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56601-1A51-4ED5-904B-4F28F16B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997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Explain pasted snippets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5EAF7-BBE8-4369-8695-22AF6F1C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99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66A7D"/>
                </a:solidFill>
              </a:defRPr>
            </a:pPr>
            <a:r>
              <a:rPr sz="975" b="0" i="0">
                <a:solidFill>
                  <a:srgbClr val="766A7D"/>
                </a:solidFill>
              </a:rPr>
              <a:t>Misses workflow and project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AD9EE-8487-4328-9124-2DD269B5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572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D1F51-1A21-44C5-9A81-41FA4587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Course platforms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8FA9E-AE80-4153-BDB0-09C4A552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148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Teach fixed curricula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5860D-798D-44AF-BC9F-208E5C3B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14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66A7D"/>
                </a:solidFill>
              </a:defRPr>
            </a:pPr>
            <a:r>
              <a:rPr sz="975" b="0" i="0">
                <a:solidFill>
                  <a:srgbClr val="766A7D"/>
                </a:solidFill>
              </a:rPr>
              <a:t>Disconnected from what shipped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908E3-046D-480D-8249-EE2E1B3D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572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264FE-94AC-428B-A35C-AFBB7359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57BF3"/>
                </a:solidFill>
              </a:defRPr>
            </a:pPr>
            <a:r>
              <a:rPr sz="1050" b="1" i="0">
                <a:solidFill>
                  <a:srgbClr val="A57BF3"/>
                </a:solidFill>
              </a:rPr>
              <a:t>Unvibe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16A20-F166-41E1-BCAA-A9F43EB1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967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Explains your selected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3DE58-181F-4CC8-B929-4B85F8E4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96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DF9"/>
                </a:solidFill>
              </a:defRPr>
            </a:pPr>
            <a:r>
              <a:rPr sz="975" b="0" i="0">
                <a:solidFill>
                  <a:srgbClr val="FFFDF9"/>
                </a:solidFill>
              </a:rPr>
              <a:t>Tests, saves, and tracks ownership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25489E-F7BC-4C86-9EA0-86497719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AE8ECD-FF2F-48C8-8E1E-8932B3C8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4BC084"/>
                </a:solidFill>
              </a:defRPr>
            </a:pPr>
            <a:r>
              <a:rPr sz="750" b="1" i="0">
                <a:solidFill>
                  <a:srgbClr val="4BC084"/>
                </a:solidFill>
              </a:rPr>
              <a:t>WORKFLOW CONTEXT + ACTIVE RECALL + RETENTION</a:t>
            </a:r>
          </a:p>
        </p:txBody>
      </p:sp>
    </p:spTree>
    <p:extLst>
      <p:ext uri="{BB962C8B-B14F-4D97-AF65-F5344CB8AC3E}">
        <p14:creationId xmlns:p14="http://schemas.microsoft.com/office/powerpoint/2010/main" val="799270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F5F9CA-2B3B-44F7-912B-C33CF45C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5CBC1-4C5C-4CB1-8B3F-02F92CD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BBB71-84A5-4EB0-A69A-0E1A9B6E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8A14D-69BE-4584-A97B-F03709B2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EF29E-8B58-49FE-9EA1-80BFC92D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E982E-9816-48E7-BE7B-7245936F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76159-AFAF-4F31-921B-E1BCCD5E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EARLY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4C678-33AD-4C67-BC4E-9D2DEEF6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71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DF9"/>
                </a:solidFill>
              </a:defRPr>
            </a:pPr>
            <a:r>
              <a:rPr sz="3300" b="1" i="0">
                <a:solidFill>
                  <a:srgbClr val="FFFDF9"/>
                </a:solidFill>
              </a:rPr>
              <a:t>Small launch. Real signal.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D0C29-44B1-4B93-A205-51DE9A90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A57BF3"/>
                </a:solidFill>
              </a:defRPr>
            </a:pPr>
            <a:r>
              <a:rPr sz="2850" b="1" i="0">
                <a:solidFill>
                  <a:srgbClr val="A57BF3"/>
                </a:solidFill>
              </a:rPr>
              <a:t>30+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BBD3F-63C5-4EE1-9F3C-1730B9C4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historical early-access signups*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F3C9D-9222-495C-8EA4-32F04441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E65CA7"/>
                </a:solidFill>
              </a:defRPr>
            </a:pPr>
            <a:r>
              <a:rPr sz="2850" b="1" i="0">
                <a:solidFill>
                  <a:srgbClr val="E65CA7"/>
                </a:solidFill>
              </a:rPr>
              <a:t>62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9C8DC-CF29-4D01-BB61-4D360C4D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Smol Startup upvotes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86486-A388-4EA1-B0A7-A5A5DD2C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90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86D3D"/>
                </a:solidFill>
              </a:defRPr>
            </a:pPr>
            <a:r>
              <a:rPr sz="2850" b="1" i="0">
                <a:solidFill>
                  <a:srgbClr val="D86D3D"/>
                </a:solidFill>
              </a:rPr>
              <a:t>#1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D14C2-50CC-4A1F-9D6C-67BE5A97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86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Smol Startup Daily Winner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0D7BB-7005-4926-BBF8-40EA9B11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3F65E8"/>
                </a:solidFill>
              </a:defRPr>
            </a:pPr>
            <a:r>
              <a:rPr sz="2850" b="1" i="0">
                <a:solidFill>
                  <a:srgbClr val="3F65E8"/>
                </a:solidFill>
              </a:rPr>
              <a:t>136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648B0-6B0C-4607-9C4A-F787F3AA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AABD"/>
                </a:solidFill>
              </a:defRPr>
            </a:pPr>
            <a:r>
              <a:rPr sz="975" b="1" i="0">
                <a:solidFill>
                  <a:srgbClr val="B8AABD"/>
                </a:solidFill>
              </a:rPr>
              <a:t>unique site visitors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7876E-22E4-49F2-BD95-D0AC81C5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143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3E824-D47C-417E-8CF4-BFB7166B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FFFDF9"/>
                </a:solidFill>
              </a:defRPr>
            </a:pPr>
            <a:r>
              <a:rPr sz="1575" b="0" i="1">
                <a:solidFill>
                  <a:srgbClr val="FFFDF9"/>
                </a:solidFill>
              </a:rPr>
              <a:t>“The test option is very useful to recap what was learnt.”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7A86E-5629-4713-8847-A6FA983D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Sharice Gustian · private beta · 9/10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BF840-F59C-4B09-9CAC-98509AFD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29050"/>
            <a:ext cx="5143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3F56F-04A1-4E80-9F7C-0D1FB425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1">
                <a:solidFill>
                  <a:srgbClr val="FFFDF9"/>
                </a:solidFill>
              </a:defRPr>
            </a:pPr>
            <a:r>
              <a:rPr sz="1575" b="0" i="1">
                <a:solidFill>
                  <a:srgbClr val="FFFDF9"/>
                </a:solidFill>
              </a:rPr>
              <a:t>“The explanation depth and customization felt genuinely creative.”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D9428-749E-4522-BDC4-9964E1B0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48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Om Anand Khaunte · private beta · 7/10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54E51-EC98-4E29-9023-62311707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66A7D"/>
                </a:solidFill>
              </a:defRPr>
            </a:pPr>
            <a:r>
              <a:rPr sz="675" b="0" i="0">
                <a:solidFill>
                  <a:srgbClr val="766A7D"/>
                </a:solidFill>
              </a:rPr>
              <a:t>*Founder-reported across the pre-reset waitlist and early beta intake; current live store is tracked separately.</a:t>
            </a:r>
          </a:p>
        </p:txBody>
      </p:sp>
    </p:spTree>
    <p:extLst>
      <p:ext uri="{BB962C8B-B14F-4D97-AF65-F5344CB8AC3E}">
        <p14:creationId xmlns:p14="http://schemas.microsoft.com/office/powerpoint/2010/main" val="4438684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0C038-A11C-4C55-96A1-542964F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8CB12-0C0B-4BE9-A50F-43ACA030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D7D4D-5C65-485E-9E26-8BA09C8A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A1816-C711-451C-926B-9BC9EEF6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C28BD-9110-4924-B1E2-B42316E3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F3C89-FA81-4579-B384-84066463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96A92-673E-48EC-BE13-790AC3F1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MARKET WEDGE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43269-E861-46B8-BEF1-933C131F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00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Start where AI speed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creates the sharpest pain.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913E7-1C03-4026-85D5-0BD231FA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38125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B3275-A9CE-4D7E-805D-38F6A98F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2A537-CA99-4474-9917-D0D4CABC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DF9"/>
                </a:solidFill>
              </a:defRPr>
            </a:pPr>
            <a:r>
              <a:rPr sz="1425" b="1" i="0">
                <a:solidFill>
                  <a:srgbClr val="FFFDF9"/>
                </a:solidFill>
              </a:rPr>
              <a:t>AI-first students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F4D42-515F-40FB-A773-3806F927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Ship quickly, learn unevenly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7F8B3-FA58-419A-A117-DB602CE9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05150"/>
            <a:ext cx="238125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B7C2A-BD6A-4C7F-8DC9-B63976EF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95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F15E5-1D44-4559-BF46-1EEF1C23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338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DF9"/>
                </a:solidFill>
              </a:defRPr>
            </a:pPr>
            <a:r>
              <a:rPr sz="1425" b="1" i="0">
                <a:solidFill>
                  <a:srgbClr val="FFFDF9"/>
                </a:solidFill>
              </a:rPr>
              <a:t>Solo builders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BF680-8B0A-49D8-BC0E-C6E82918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05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Own every line they deploy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9FD6A-C8A4-447A-91C0-D6805628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238125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99C7C-7AAA-427A-8ABF-5CB4D7C1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84524-9C2A-40A7-A262-B97FA049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DF9"/>
                </a:solidFill>
              </a:defRPr>
            </a:pPr>
            <a:r>
              <a:rPr sz="1425" b="1" i="0">
                <a:solidFill>
                  <a:srgbClr val="FFFDF9"/>
                </a:solidFill>
              </a:rPr>
              <a:t>Developer teams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F372C-AEA8-4DD3-894A-F09678F1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05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Need shared comprehension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95023-DA78-4538-AB39-48E42834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381250" cy="186690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703EA-5E92-468A-B59F-01344321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C7F471-0856-4976-B50A-FD96D682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DF9"/>
                </a:solidFill>
              </a:defRPr>
            </a:pPr>
            <a:r>
              <a:rPr sz="1425" b="1" i="0">
                <a:solidFill>
                  <a:srgbClr val="FFFDF9"/>
                </a:solidFill>
              </a:rPr>
              <a:t>Regulated teams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4EF561-7611-4820-9725-1524B354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053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Need evidence and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A721A-D381-45B7-B2B5-C7B02D8D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AABD"/>
                </a:solidFill>
              </a:defRPr>
            </a:pPr>
            <a:r>
              <a:rPr sz="1125" b="0" i="0">
                <a:solidFill>
                  <a:srgbClr val="B8AABD"/>
                </a:solidFill>
              </a:rPr>
              <a:t>The recurring unit is a review, not a course. The expansion path follows code responsibility from individual learning to team assurance.</a:t>
            </a:r>
          </a:p>
        </p:txBody>
      </p:sp>
    </p:spTree>
    <p:extLst>
      <p:ext uri="{BB962C8B-B14F-4D97-AF65-F5344CB8AC3E}">
        <p14:creationId xmlns:p14="http://schemas.microsoft.com/office/powerpoint/2010/main" val="4472569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D63737-E453-4BF2-9230-B27AEF51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464F6-5669-43C7-A41E-C1DB1669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9FEBB-62BC-4323-9C8C-E02042D7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F7BEF-5AA4-4DF3-9E74-9192355C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82522-3670-4C80-AE88-F197D84F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7D485-1302-4374-B051-D31E982A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7E25F-CD64-47CA-91A9-C7B80CA7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BUSINESS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CD3E8-D9DF-4798-985F-C9596F83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28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Free to build the habit.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Paid when the project grows.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FE1D5-473D-46A2-A786-17E9F375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381250" cy="24193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E0E68-1835-4AE6-87D8-4CF7BA17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FREE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D4519-F6D5-45A1-9394-2CCDF0AC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DF9"/>
                </a:solidFill>
              </a:defRPr>
            </a:pPr>
            <a:r>
              <a:rPr sz="2100" b="1" i="0">
                <a:solidFill>
                  <a:srgbClr val="FFFDF9"/>
                </a:solidFill>
              </a:rPr>
              <a:t>$0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BFC27-0CEC-4691-8312-41BF23F1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Core selected-code review</a:t>
            </a:r>
          </a:p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Saved learning + study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4619E-6805-455F-9678-A9EF7BA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33700"/>
            <a:ext cx="2381250" cy="24193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7687A-23E0-4737-9412-A045378A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PRO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93760-17CD-4EEA-BF19-36171D48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DF9"/>
                </a:solidFill>
              </a:defRPr>
            </a:pPr>
            <a:r>
              <a:rPr sz="2100" b="1" i="0">
                <a:solidFill>
                  <a:srgbClr val="FFFDF9"/>
                </a:solidFill>
              </a:rPr>
              <a:t>$8/mo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3A7CD-35A1-4A44-9397-559203A4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005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More reviews + AI questions</a:t>
            </a:r>
          </a:p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Personal learning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58A51-8347-40AF-BC53-3F820682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33700"/>
            <a:ext cx="2381250" cy="24193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60A0D2-E23D-4435-875D-F15A6749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6EC63-AD0E-4229-A0F4-963734E1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DF9"/>
                </a:solidFill>
              </a:defRPr>
            </a:pPr>
            <a:r>
              <a:rPr sz="2100" b="1" i="0">
                <a:solidFill>
                  <a:srgbClr val="FFFDF9"/>
                </a:solidFill>
              </a:rPr>
              <a:t>$10/seat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C267E-AFB9-4B41-9FAC-6209FEFB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Shared workspace</a:t>
            </a:r>
          </a:p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2-seat minimum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41F4C-0033-4C58-8BAE-16A1BD7F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101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7FFAE-47A6-44C0-AF2A-84CCB3A2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86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766A7D"/>
                </a:solidFill>
              </a:defRPr>
            </a:pPr>
            <a:r>
              <a:rPr sz="750" b="1" i="0">
                <a:solidFill>
                  <a:srgbClr val="766A7D"/>
                </a:solidFill>
              </a:rPr>
              <a:t>COMING SOON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D971E-0DD9-4C53-8378-4DD5448D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2381250" cy="24193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06B966-4F21-4723-8AA1-22551A95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ENTERPRISE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A5E590-1766-4D14-9DC4-1F503BF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DF9"/>
                </a:solidFill>
              </a:defRPr>
            </a:pPr>
            <a:r>
              <a:rPr sz="2100" b="1" i="0">
                <a:solidFill>
                  <a:srgbClr val="FFFDF9"/>
                </a:solidFill>
              </a:rPr>
              <a:t>$50/mo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156E0-A058-4DAA-9BA9-585C6F7C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1,000 AI questions</a:t>
            </a:r>
          </a:p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Integrations +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94C87D-F6FF-4BB5-8046-58474BDC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E617F6-4F54-40E7-91BB-0900D513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766A7D"/>
                </a:solidFill>
              </a:defRPr>
            </a:pPr>
            <a:r>
              <a:rPr sz="750" b="1" i="0">
                <a:solidFill>
                  <a:srgbClr val="766A7D"/>
                </a:solidFill>
              </a:rPr>
              <a:t>COMING SOON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1795D-0450-4AEA-82CC-1E02DE53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Annual plans discount 25%. Model access is included—no provider API key required.</a:t>
            </a:r>
          </a:p>
        </p:txBody>
      </p:sp>
    </p:spTree>
    <p:extLst>
      <p:ext uri="{BB962C8B-B14F-4D97-AF65-F5344CB8AC3E}">
        <p14:creationId xmlns:p14="http://schemas.microsoft.com/office/powerpoint/2010/main" val="1909202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6B212C-9364-4C03-B3B5-AC232F01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223EA-2A09-4B0C-B8C0-6DDD483F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3B604-41F7-4E98-9EC4-A9CFAC75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EB6C3-A747-440B-BA45-7826EA0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99A10-CCB1-4B07-ADD7-D2C8F700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2C4A9-D009-4568-86FC-21614C02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6EAD5-391C-47E9-AF76-DEE689F3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DISTRIBUTION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F73FD-3477-435C-AB27-AB3BE061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66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DF9"/>
                </a:solidFill>
              </a:defRPr>
            </a:pPr>
            <a:r>
              <a:rPr sz="3075" b="1" i="0">
                <a:solidFill>
                  <a:srgbClr val="FFFDF9"/>
                </a:solidFill>
              </a:rPr>
              <a:t>Win the communities</a:t>
            </a:r>
          </a:p>
          <a:p xmlns:a="http://schemas.openxmlformats.org/drawingml/2006/main">
            <a:pPr algn="l">
              <a:defRPr sz="3075" b="1" i="0">
                <a:solidFill>
                  <a:srgbClr val="FFFDF9"/>
                </a:solidFill>
              </a:defRPr>
            </a:pPr>
            <a:r>
              <a:rPr sz="3075" b="1" i="0">
                <a:solidFill>
                  <a:srgbClr val="FFFDF9"/>
                </a:solidFill>
              </a:rPr>
              <a:t>where the pain is already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58B6C-A999-44D3-B5F7-6E0DAF67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600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AABD"/>
                </a:solidFill>
              </a:defRPr>
            </a:pPr>
            <a:r>
              <a:rPr sz="1275" b="0" i="0">
                <a:solidFill>
                  <a:srgbClr val="B8AABD"/>
                </a:solidFill>
              </a:rPr>
              <a:t>A founder-led motion that turns public building, directories, hackathons, and student communities into beta conversations.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639D9-BF66-47F4-9B8B-436A7FC9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72CB8-6FDF-4BE9-9942-9C088ADD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SMOL STARTUP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B7CE3-3AC8-47B9-B7DE-FEE8E54B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909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85C0A-B0EB-4994-A286-B5F8DD94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671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PRODUCT HUNT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45A8E-F840-40D4-8335-D125B70B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909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DD2BE-755A-43BA-AF0F-560B46EE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671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DEV COMMUNITY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B0D1D-9381-4495-AC3E-AB50951A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78F48-3947-49A3-B70B-BEF460A1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LAUNCHKIWI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1BE49-5FB3-4CCC-98E5-D6336CAA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433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E5837-BB16-4473-ADA1-EF1D8B8D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19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TOOL INDEX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1B130-F27D-42D8-B8E9-36E8240B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33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7C0DD-93B5-4E6D-B652-BC93A3D5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DEVROVE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9E249-E5DF-4749-A13B-60D93898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F1379-9AA7-4879-B7E0-74C16159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AI TOOL DISCOVERY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3D2F3E-491B-4B4A-AFA0-EE3DF238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958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CCBF89-6512-4896-AB2E-1B0CE92B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VIBERANK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9B28C-ECFD-49CB-8830-D60766EA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958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33CDD1-4472-493A-BD1D-53ED4188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72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8AABD"/>
                </a:solidFill>
              </a:defRPr>
            </a:pPr>
            <a:r>
              <a:rPr sz="750" b="1" i="0">
                <a:solidFill>
                  <a:srgbClr val="B8AABD"/>
                </a:solidFill>
              </a:rPr>
              <a:t>SIDEPROJECTORS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B361B-1DEE-4D91-AEBB-26E1E188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343150" cy="3086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5C4DA5-B501-45CF-95C1-947EE63C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146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NEXT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E524A-BF23-4E90-88B6-5983305F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500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63650C-FD5A-4798-92ED-777B0250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9"/>
                </a:solidFill>
              </a:defRPr>
            </a:pPr>
            <a:r>
              <a:rPr sz="1200" b="1" i="0">
                <a:solidFill>
                  <a:srgbClr val="FFFDF9"/>
                </a:solidFill>
              </a:rPr>
              <a:t>beta builders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49CBEE-191B-4778-A1BB-1D1F587B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Measure activation:</a:t>
            </a:r>
          </a:p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select → understand → save → return.</a:t>
            </a:r>
          </a:p>
        </p:txBody>
      </p:sp>
    </p:spTree>
    <p:extLst>
      <p:ext uri="{BB962C8B-B14F-4D97-AF65-F5344CB8AC3E}">
        <p14:creationId xmlns:p14="http://schemas.microsoft.com/office/powerpoint/2010/main" val="8630985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47D07D-E2C5-4F8C-91B8-5D9EE6AB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7EF8E-0844-452D-A4BC-A760885A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3D790-4E48-4F00-AAB7-8EE1FA8F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69B48-235D-45FC-8242-2982286E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3596A-02A9-4939-9EFF-6291F1A6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A73E2-CADF-4692-B344-640D5536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A10D9-CDF2-41F5-BF2B-CEBB1358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DEF6-949E-4FDF-B424-9492B0C5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Seven weeks from pivot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to working private beta.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D7A5F-EC66-4767-ABAE-B2D9FFEC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46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8B4FA-43FA-4CA3-9634-DA30E96F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7BF3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F9368-953F-4408-9D31-AE06B0B2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11 JUL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5643A-8FA0-4946-8730-ED72652E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Desktop pivot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17DD2-E4E8-4625-9400-4C0E253E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7BF3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D52D5-245F-463A-9865-ECD4B7EF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14 JUL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DBF4B-DE3A-4E35-8260-6F74E052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unvibe.site 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9EEC7-BAEF-4982-9202-E48205B3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7BF3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5032D-5077-431B-AE3E-B6F193AD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24 JUL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C32D3-BACF-43FC-833B-35EE4E95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Private Mac beta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9F3CD-4BF5-4D58-8310-46C92506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7BF3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373BD5-EE40-4774-8FE8-B4E8D16B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27 JUL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E821C-9070-4E7B-9344-C50E7617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⌘U auto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6F43D-7B09-4985-8120-9EEDA18A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7BF3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D6466-0739-464F-9656-BED54AD9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17 AUG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51EF8-14CF-4E24-BED3-F736883D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Pricing + gifting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B8185-10BE-45EA-8B4E-2023437F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14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D3D"/>
          </a:solidFill>
          <a:ln xmlns:a="http://schemas.openxmlformats.org/drawingml/2006/main" w="28575">
            <a:solidFill>
              <a:srgbClr val="0A071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B98C08-4C10-4788-9A3B-34EF6560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A57BF3"/>
                </a:solidFill>
              </a:defRPr>
            </a:pPr>
            <a:r>
              <a:rPr sz="675" b="1" i="0">
                <a:solidFill>
                  <a:srgbClr val="A57BF3"/>
                </a:solidFill>
              </a:rPr>
              <a:t>26 AUG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32024-3103-4242-BF56-F7DC0D8C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386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#1 daily winner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AD66A6-66CF-4E77-912F-31830D51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57275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79AAC7-AF9E-4040-9445-08C353E1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592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Selection bridge · secret filtering · streaming AI · study loop · usage meters · Google sign-in · durable waitlist</a:t>
            </a:r>
          </a:p>
        </p:txBody>
      </p:sp>
    </p:spTree>
    <p:extLst>
      <p:ext uri="{BB962C8B-B14F-4D97-AF65-F5344CB8AC3E}">
        <p14:creationId xmlns:p14="http://schemas.microsoft.com/office/powerpoint/2010/main" val="18296727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3D72AF-6CA8-42C8-AB7F-3AC259BC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B9B9D-0722-4DE5-8DAE-E7E31A7A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9B77A-C1A3-4AC2-8062-DCFB7089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653DF-120A-46B4-A4DF-5C570754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BFA41-F653-42FA-9C50-10CBE032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97FEE-564E-4A7E-B96E-0F9F6499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8024D-529D-4BEB-A6C3-17808258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CAPITAL EFFICIENCY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06DA1-F26C-40D2-9F8F-42DAADBB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DF9"/>
                </a:solidFill>
              </a:defRPr>
            </a:pPr>
            <a:r>
              <a:rPr sz="3075" b="1" i="0">
                <a:solidFill>
                  <a:srgbClr val="FFFDF9"/>
                </a:solidFill>
              </a:rPr>
              <a:t>$232.7K in startup support.</a:t>
            </a:r>
          </a:p>
          <a:p xmlns:a="http://schemas.openxmlformats.org/drawingml/2006/main">
            <a:pPr algn="l">
              <a:defRPr sz="3075" b="1" i="0">
                <a:solidFill>
                  <a:srgbClr val="FFFDF9"/>
                </a:solidFill>
              </a:defRPr>
            </a:pPr>
            <a:r>
              <a:rPr sz="3075" b="1" i="0">
                <a:solidFill>
                  <a:srgbClr val="FFFDF9"/>
                </a:solidFill>
              </a:rPr>
              <a:t>Built without a priced round.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5023F-9D0D-48B8-81CB-D8ECFF5D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8AABD"/>
                </a:solidFill>
              </a:defRPr>
            </a:pPr>
            <a:r>
              <a:rPr sz="1200" b="0" i="0">
                <a:solidFill>
                  <a:srgbClr val="B8AABD"/>
                </a:solidFill>
              </a:rPr>
              <a:t>$231.9K is program and platform credit; $800 is founder-reported cash support. Credits are not cash and not investment proceeds.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FACCB-F7A5-4C95-B28C-673090CA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Mixpanel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5365A-E0B2-46BA-987B-401CBCF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718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57BF3"/>
                </a:solidFill>
              </a:defRPr>
            </a:pPr>
            <a:r>
              <a:rPr sz="1050" b="1" i="0">
                <a:solidFill>
                  <a:srgbClr val="A57BF3"/>
                </a:solidFill>
              </a:rPr>
              <a:t>$144K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26884-A977-408B-84D2-4CA6DD57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3BE07-CBF8-4DA8-8EDE-E40ED006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71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PostHog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B9DF9-274D-40B8-B9F8-C5A19068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718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57BF3"/>
                </a:solidFill>
              </a:defRPr>
            </a:pPr>
            <a:r>
              <a:rPr sz="1050" b="1" i="0">
                <a:solidFill>
                  <a:srgbClr val="A57BF3"/>
                </a:solidFill>
              </a:rPr>
              <a:t>$50K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A53DA-0387-4846-9D81-0593D2CE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338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BC6F5-A3E0-491E-9255-432C54D1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71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GitLab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7CE04-1AB3-4BC8-A906-D783E06F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718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57BF3"/>
                </a:solidFill>
              </a:defRPr>
            </a:pPr>
            <a:r>
              <a:rPr sz="1050" b="1" i="0">
                <a:solidFill>
                  <a:srgbClr val="A57BF3"/>
                </a:solidFill>
              </a:rPr>
              <a:t>$23.7K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44091-287E-450F-8AD1-B6C4AF2F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338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A0712-3467-47C0-B109-780DDC05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AWS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EC671-B51A-49EE-8233-691E11DD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3860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7928B-C2DB-4381-98DB-8EAD755A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D739C-1046-4B79-A151-7F707582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38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Linear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03718-C0B6-48E3-82E1-F9EEB62F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3860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$4.5K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6FD6E-C0B2-4304-9797-DD27BA17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0055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8E241F-85C5-4301-910A-9CABBF72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38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Google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6F789-67BB-4445-8B8C-6C484E70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3860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$2K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F3E9C-306B-4501-895F-A61D8D39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0669AF-0452-4699-A5F2-1E8280AB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OpenAI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9C1484-B559-4760-BA86-D42CEEE8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$1.2K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8B8481-ECCE-4A3F-916D-BFE8E7F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BBF7B5-0A8D-4F98-BDFB-0542FBB5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5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Deepgram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94921-38DA-49E4-8039-7496EE1F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053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$1K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82EC5E-4F58-40C3-BF8D-97B16F09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673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90AAF4-E0E3-4DFB-8E6A-7846805C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05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9"/>
                </a:solidFill>
              </a:defRPr>
            </a:pPr>
            <a:r>
              <a:rPr sz="1050" b="1" i="0">
                <a:solidFill>
                  <a:srgbClr val="FFFDF9"/>
                </a:solidFill>
              </a:rPr>
              <a:t>MongoDB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ADFDCD-7C71-476B-8420-877D4D31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053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8AABD"/>
                </a:solidFill>
              </a:defRPr>
            </a:pPr>
            <a:r>
              <a:rPr sz="1050" b="1" i="0">
                <a:solidFill>
                  <a:srgbClr val="B8AABD"/>
                </a:solidFill>
              </a:rPr>
              <a:t>$500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68F4E5-4135-495A-9052-AA3BE72F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673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B4616C-7C73-4A7B-8405-04093A73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95650"/>
            <a:ext cx="26289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F29E3D-1613-4FDC-8CC4-81C092A0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43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WHAT THIS BUYS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83554B-0F11-4CB2-BEF8-244014C8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62400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DF9"/>
                </a:solidFill>
              </a:defRPr>
            </a:pPr>
            <a:r>
              <a:rPr sz="1275" b="1" i="0">
                <a:solidFill>
                  <a:srgbClr val="FFFDF9"/>
                </a:solidFill>
              </a:rPr>
              <a:t>Runway for analytics, infra, AI evaluation, and secure developer operations.</a:t>
            </a:r>
          </a:p>
        </p:txBody>
      </p:sp>
    </p:spTree>
    <p:extLst>
      <p:ext uri="{BB962C8B-B14F-4D97-AF65-F5344CB8AC3E}">
        <p14:creationId xmlns:p14="http://schemas.microsoft.com/office/powerpoint/2010/main" val="11999857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5D6EE-830E-47BF-99D1-D3A1CBD9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CCE71-8F03-4356-9C2B-04F1DF2F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9881F-3444-41FC-82C7-7D4535EA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57D0B-B3C5-4DEA-98EC-12830F4C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8A704-7439-469F-A899-A50B0CEE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2C7CE-31B8-4F7E-B19F-05578271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5CFB2-0B3D-4E46-815D-1D91FAA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NEXT 12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1D73B-82C1-41D4-8D88-004FCD22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590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Turn a working loop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into a repeatable habit.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B2A70-C7BB-48E1-95AF-485BB448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FC621-04A3-4C38-96DA-9CC65A94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B25AC-FF2B-44D5-9185-9CF2754C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DF9"/>
                </a:solidFill>
              </a:defRPr>
            </a:pPr>
            <a:r>
              <a:rPr sz="1575" b="1" i="0">
                <a:solidFill>
                  <a:srgbClr val="FFFDF9"/>
                </a:solidFill>
              </a:rPr>
              <a:t>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3903F-095A-4B36-88F2-1DDA12A3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AABD"/>
                </a:solidFill>
              </a:defRPr>
            </a:pPr>
            <a:r>
              <a:rPr sz="1050" b="0" i="0">
                <a:solidFill>
                  <a:srgbClr val="B8AABD"/>
                </a:solidFill>
              </a:rPr>
              <a:t>Notarize the Mac app. Harden capture, streaming, and offline recovery.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A42CE-6907-4A0D-8D6B-D1E168E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3370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9DFD3-7FCC-4907-BB4C-745B48E9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C3D50-951D-4323-A76A-9B80728F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81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DF9"/>
                </a:solidFill>
              </a:defRPr>
            </a:pPr>
            <a:r>
              <a:rPr sz="1575" b="1" i="0">
                <a:solidFill>
                  <a:srgbClr val="FFFDF9"/>
                </a:solidFill>
              </a:rPr>
              <a:t>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C92AF-0CBE-4681-BC44-47529D7A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95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AABD"/>
                </a:solidFill>
              </a:defRPr>
            </a:pPr>
            <a:r>
              <a:rPr sz="1050" b="0" i="0">
                <a:solidFill>
                  <a:srgbClr val="B8AABD"/>
                </a:solidFill>
              </a:rPr>
              <a:t>Weekly review rhythm, stronger concepts, personal notes, visual learning aids.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C3963-8AE8-4FBF-BD26-52C85087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33700"/>
            <a:ext cx="31432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81022"/>
          </a:solidFill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0DEAC-5AED-465A-8E29-5BBE66D4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57BF3"/>
                </a:solidFill>
              </a:defRPr>
            </a:pPr>
            <a:r>
              <a:rPr sz="750" b="1" i="0">
                <a:solidFill>
                  <a:srgbClr val="A57BF3"/>
                </a:solidFill>
              </a:rPr>
              <a:t>THEN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31027-266D-4C17-BAB9-926A7FD7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81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DF9"/>
                </a:solidFill>
              </a:defRPr>
            </a:pPr>
            <a:r>
              <a:rPr sz="1575" b="1" i="0">
                <a:solidFill>
                  <a:srgbClr val="FFFDF9"/>
                </a:solidFill>
              </a:rPr>
              <a:t>Distribution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50157-3B1C-429E-9A66-A1B5CA50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95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AABD"/>
                </a:solidFill>
              </a:defRPr>
            </a:pPr>
            <a:r>
              <a:rPr sz="1050" b="0" i="0">
                <a:solidFill>
                  <a:srgbClr val="B8AABD"/>
                </a:solidFill>
              </a:rPr>
              <a:t>Open VSX extension, beta communities, referrals, and first paid teams.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1B95B-22CC-477A-89CD-F26A0F7E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88C55-893D-42CE-BFF3-FBFBA843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DF9"/>
                </a:solidFill>
              </a:defRPr>
            </a:pPr>
            <a:r>
              <a:rPr sz="750" b="1" i="0">
                <a:solidFill>
                  <a:srgbClr val="FFFDF9"/>
                </a:solidFill>
              </a:rPr>
              <a:t>$50K–$100K PRE-SEED / ACCELERATOR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39880-4403-4CCA-96F5-DC3A1B8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62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8AABD"/>
                </a:solidFill>
              </a:defRPr>
            </a:pPr>
            <a:r>
              <a:rPr sz="975" b="0" i="0">
                <a:solidFill>
                  <a:srgbClr val="B8AABD"/>
                </a:solidFill>
              </a:rPr>
              <a:t>Also seeking introductions to AI-first builders, student developer communities, and design partners.</a:t>
            </a:r>
          </a:p>
        </p:txBody>
      </p:sp>
    </p:spTree>
    <p:extLst>
      <p:ext uri="{BB962C8B-B14F-4D97-AF65-F5344CB8AC3E}">
        <p14:creationId xmlns:p14="http://schemas.microsoft.com/office/powerpoint/2010/main" val="922555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7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DA42CA-FD5F-44B4-9417-EAB7399D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7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10AB0-A827-4197-A724-6FDEFD9F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2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402BC-EEAE-4789-BA15-B60245F0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28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03F33-407D-458D-A1D5-E89266ED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66A7D"/>
                </a:solidFill>
              </a:defRPr>
            </a:pPr>
            <a:r>
              <a:rPr sz="600" b="1" i="0">
                <a:solidFill>
                  <a:srgbClr val="766A7D"/>
                </a:solidFill>
              </a:rPr>
              <a:t>UNVIBE · PRESTON@UNVIBE.SITE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D719C-3DD6-4FE2-BC7F-05D855C6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766A7D"/>
                </a:solidFill>
              </a:defRPr>
            </a:pPr>
            <a:r>
              <a:rPr sz="675" b="1" i="0">
                <a:solidFill>
                  <a:srgbClr val="766A7D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A3244-D1F8-46E5-848B-43C1AE57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6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57BF3"/>
                </a:solidFill>
              </a:defRPr>
            </a:pPr>
            <a:r>
              <a:rPr sz="975" b="1" i="0">
                <a:solidFill>
                  <a:srgbClr val="A57BF3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3B4CF-09DA-4AB7-A2F2-5B0EFF8F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7BF3"/>
                </a:solidFill>
              </a:defRPr>
            </a:pPr>
            <a:r>
              <a:rPr sz="825" b="1" i="0">
                <a:solidFill>
                  <a:srgbClr val="A57BF3"/>
                </a:solidFill>
              </a:rPr>
              <a:t>FOUNDER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EAD8B-4AB4-4961-8D21-FAA145DC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71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Built by someone</a:t>
            </a:r>
          </a:p>
          <a:p xmlns:a="http://schemas.openxmlformats.org/drawingml/2006/main">
            <a:pPr algn="l">
              <a:defRPr sz="3150" b="1" i="0">
                <a:solidFill>
                  <a:srgbClr val="FFFDF9"/>
                </a:solidFill>
              </a:defRPr>
            </a:pPr>
            <a:r>
              <a:rPr sz="3150" b="1" i="0">
                <a:solidFill>
                  <a:srgbClr val="FFFDF9"/>
                </a:solidFill>
              </a:rPr>
              <a:t>inside the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D1419-0410-4B32-B007-79242DD4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AABD"/>
                </a:solidFill>
              </a:defRPr>
            </a:pPr>
            <a:r>
              <a:rPr sz="1350" b="0" i="0">
                <a:solidFill>
                  <a:srgbClr val="B8AABD"/>
                </a:solidFill>
              </a:rPr>
              <a:t>Preston Susanto is a solo technical founder building Unvibe while using AI coding tools every day—and feeling the ownership gap firsthand.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C77C1-D9EA-40AB-911B-995E2CFA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57BF3"/>
                </a:solidFill>
              </a:defRPr>
            </a:pPr>
            <a:r>
              <a:rPr sz="750" b="0" i="0">
                <a:solidFill>
                  <a:srgbClr val="A57BF3"/>
                </a:solidFill>
              </a:rPr>
              <a:t>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9BBBC-9FA9-4C80-895F-044DDC51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DF9"/>
                </a:solidFill>
              </a:defRPr>
            </a:pPr>
            <a:r>
              <a:rPr sz="1050" b="0" i="0">
                <a:solidFill>
                  <a:srgbClr val="FFFDF9"/>
                </a:solidFill>
              </a:rPr>
              <a:t>Product, desktop, backend, and launch motion built end-to-end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8EA38-A82D-414B-936B-38191474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57BF3"/>
                </a:solidFill>
              </a:defRPr>
            </a:pPr>
            <a:r>
              <a:rPr sz="750" b="0" i="0">
                <a:solidFill>
                  <a:srgbClr val="A57BF3"/>
                </a:solidFill>
              </a:rPr>
              <a:t>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F8152-D482-449D-B8DC-D4884C4E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DF9"/>
                </a:solidFill>
              </a:defRPr>
            </a:pPr>
            <a:r>
              <a:rPr sz="1050" b="0" i="0">
                <a:solidFill>
                  <a:srgbClr val="FFFDF9"/>
                </a:solidFill>
              </a:rPr>
              <a:t>Rapid user-feedback loop with public build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6D303-E57F-48DB-BD62-3DF3C166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57BF3"/>
                </a:solidFill>
              </a:defRPr>
            </a:pPr>
            <a:r>
              <a:rPr sz="750" b="0" i="0">
                <a:solidFill>
                  <a:srgbClr val="A57BF3"/>
                </a:solidFill>
              </a:rPr>
              <a:t>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18994-6B38-498D-AC26-A4909463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DF9"/>
                </a:solidFill>
              </a:defRPr>
            </a:pPr>
            <a:r>
              <a:rPr sz="1050" b="0" i="0">
                <a:solidFill>
                  <a:srgbClr val="FFFDF9"/>
                </a:solidFill>
              </a:rPr>
              <a:t>Google Developers Group DVC founder and hackathon organizer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0352C-D1D3-4D67-94A7-A9E1970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57BF3"/>
                </a:solidFill>
              </a:defRPr>
            </a:pPr>
            <a:r>
              <a:rPr sz="750" b="0" i="0">
                <a:solidFill>
                  <a:srgbClr val="A57BF3"/>
                </a:solidFill>
              </a:rPr>
              <a:t>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BE503-9BF9-4349-909D-824D87D8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DF9"/>
                </a:solidFill>
              </a:defRPr>
            </a:pPr>
            <a:r>
              <a:rPr sz="1050" b="0" i="0">
                <a:solidFill>
                  <a:srgbClr val="FFFDF9"/>
                </a:solidFill>
              </a:rPr>
              <a:t>Mission: make AI development understandable, verifiable, and retainable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EC5E2-C7A6-4707-845A-EB6F764C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57200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251735"/>
          </a:solidFill>
          <a:ln xmlns:a="http://schemas.openxmlformats.org/drawingml/2006/main" w="9525">
            <a:solidFill>
              <a:srgbClr val="A57BF3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977d32ec544bc"/>
          <a:stretch xmlns:a="http://schemas.openxmlformats.org/drawingml/2006/main"/>
        </p:blipFill>
        <p:spPr>
          <a:xfrm xmlns:a="http://schemas.openxmlformats.org/drawingml/2006/main">
            <a:off x="8362950" y="1562100"/>
            <a:ext cx="1181100" cy="1181100"/>
          </a:xfrm>
          <a:prstGeom xmlns:a="http://schemas.openxmlformats.org/drawingml/2006/main" prst="roundRect">
            <a:avLst>
              <a:gd name="adj" fmla="val 16129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38D11-FC7D-4BF8-9C19-4346BDC1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00400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DF9"/>
                </a:solidFill>
              </a:defRPr>
            </a:pPr>
            <a:r>
              <a:rPr sz="2325" b="1" i="0">
                <a:solidFill>
                  <a:srgbClr val="FFFDF9"/>
                </a:solidFill>
              </a:rPr>
              <a:t>Make AI development</a:t>
            </a:r>
          </a:p>
          <a:p xmlns:a="http://schemas.openxmlformats.org/drawingml/2006/main">
            <a:pPr algn="ctr">
              <a:defRPr sz="2325" b="1" i="0">
                <a:solidFill>
                  <a:srgbClr val="FFFDF9"/>
                </a:solidFill>
              </a:defRPr>
            </a:pPr>
            <a:r>
              <a:rPr sz="2325" b="1" i="0">
                <a:solidFill>
                  <a:srgbClr val="FFFDF9"/>
                </a:solidFill>
              </a:rPr>
              <a:t>understandable.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F50C1-CAE0-483D-BC75-4E2B59B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3390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57BF3"/>
                </a:solidFill>
              </a:defRPr>
            </a:pPr>
            <a:r>
              <a:rPr sz="1125" b="1" i="0">
                <a:solidFill>
                  <a:srgbClr val="A57BF3"/>
                </a:solidFill>
              </a:rPr>
              <a:t>unvibe.site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D42689-0B69-4870-97E4-F8617A38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7205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B8AABD"/>
                </a:solidFill>
              </a:defRPr>
            </a:pPr>
            <a:r>
              <a:rPr sz="900" b="0" i="0">
                <a:solidFill>
                  <a:srgbClr val="B8AABD"/>
                </a:solidFill>
              </a:rPr>
              <a:t>preston@unvibe.site</a:t>
            </a:r>
          </a:p>
        </p:txBody>
      </p:sp>
    </p:spTree>
    <p:extLst>
      <p:ext uri="{BB962C8B-B14F-4D97-AF65-F5344CB8AC3E}">
        <p14:creationId xmlns:p14="http://schemas.microsoft.com/office/powerpoint/2010/main" val="1692494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2026-08-31T21:46:59.3500000Z</dcterms:created>
  <dcterms:modified xsi:type="dcterms:W3CDTF">2026-08-31T21:46:59.3500000Z</dcterms:modified>
</coreProperties>
</file>