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8d57cd3514bce" /><Relationship Type="http://schemas.openxmlformats.org/officeDocument/2006/relationships/extended-properties" Target="/docProps/app.xml" Id="Ra6f2321aa0ab459b" /><Relationship Type="http://schemas.openxmlformats.org/officeDocument/2006/relationships/officeDocument" Target="/ppt/presentation.xml" Id="Rd127316575da45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20fa8a6364b08"/>
  </p:sldMasterIdLst>
  <p:notesMasterIdLst>
    <p:notesMasterId xmlns:r="http://schemas.openxmlformats.org/officeDocument/2006/relationships" r:id="R585534e05428405e"/>
  </p:notesMasterIdLst>
  <p:sldIdLst>
    <p:sldId xmlns:r="http://schemas.openxmlformats.org/officeDocument/2006/relationships" id="256" r:id="R15c9e4270550470e"/>
    <p:sldId xmlns:r="http://schemas.openxmlformats.org/officeDocument/2006/relationships" id="257" r:id="R1fc65ab75aaa436b"/>
    <p:sldId xmlns:r="http://schemas.openxmlformats.org/officeDocument/2006/relationships" id="258" r:id="Rb2777c4a7b62468a"/>
    <p:sldId xmlns:r="http://schemas.openxmlformats.org/officeDocument/2006/relationships" id="259" r:id="Rb2ae470536594d79"/>
    <p:sldId xmlns:r="http://schemas.openxmlformats.org/officeDocument/2006/relationships" id="260" r:id="Rbea4bce0294c49ce"/>
    <p:sldId xmlns:r="http://schemas.openxmlformats.org/officeDocument/2006/relationships" id="261" r:id="Rf398d2dc427a42de"/>
    <p:sldId xmlns:r="http://schemas.openxmlformats.org/officeDocument/2006/relationships" id="262" r:id="Rff9afe383c7e4274"/>
    <p:sldId xmlns:r="http://schemas.openxmlformats.org/officeDocument/2006/relationships" id="263" r:id="Rf064c3e4bd81471a"/>
    <p:sldId xmlns:r="http://schemas.openxmlformats.org/officeDocument/2006/relationships" id="264" r:id="Ra48abc925ecf4599"/>
    <p:sldId xmlns:r="http://schemas.openxmlformats.org/officeDocument/2006/relationships" id="265" r:id="R7e8fe071bfd148ca"/>
    <p:sldId xmlns:r="http://schemas.openxmlformats.org/officeDocument/2006/relationships" id="266" r:id="R6a159a9449ff45bd"/>
    <p:sldId xmlns:r="http://schemas.openxmlformats.org/officeDocument/2006/relationships" id="267" r:id="R7b584ece8c6f4b3c"/>
    <p:sldId xmlns:r="http://schemas.openxmlformats.org/officeDocument/2006/relationships" id="268" r:id="Rb59a541d9acf4c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a749696a6d46f2" /><Relationship Type="http://schemas.openxmlformats.org/officeDocument/2006/relationships/slideMaster" Target="/ppt/slideMasters/slideMaster1.xml" Id="R56320fa8a6364b08" /><Relationship Type="http://schemas.openxmlformats.org/officeDocument/2006/relationships/notesMaster" Target="/ppt/notesMasters/notesMaster1.xml" Id="R585534e05428405e" /><Relationship Type="http://schemas.openxmlformats.org/officeDocument/2006/relationships/presProps" Target="/ppt/presProps.xml" Id="Rbeaed154854545eb" /><Relationship Type="http://schemas.openxmlformats.org/officeDocument/2006/relationships/tableStyles" Target="/ppt/tableStyles.xml" Id="R0847d6a17ef64e29" /><Relationship Type="http://schemas.openxmlformats.org/officeDocument/2006/relationships/slide" Target="/ppt/slides/slide1.xml" Id="R15c9e4270550470e" /><Relationship Type="http://schemas.openxmlformats.org/officeDocument/2006/relationships/slide" Target="/ppt/slides/slide2.xml" Id="R1fc65ab75aaa436b" /><Relationship Type="http://schemas.openxmlformats.org/officeDocument/2006/relationships/slide" Target="/ppt/slides/slide3.xml" Id="Rb2777c4a7b62468a" /><Relationship Type="http://schemas.openxmlformats.org/officeDocument/2006/relationships/slide" Target="/ppt/slides/slide4.xml" Id="Rb2ae470536594d79" /><Relationship Type="http://schemas.openxmlformats.org/officeDocument/2006/relationships/slide" Target="/ppt/slides/slide5.xml" Id="Rbea4bce0294c49ce" /><Relationship Type="http://schemas.openxmlformats.org/officeDocument/2006/relationships/slide" Target="/ppt/slides/slide6.xml" Id="Rf398d2dc427a42de" /><Relationship Type="http://schemas.openxmlformats.org/officeDocument/2006/relationships/slide" Target="/ppt/slides/slide7.xml" Id="Rff9afe383c7e4274" /><Relationship Type="http://schemas.openxmlformats.org/officeDocument/2006/relationships/slide" Target="/ppt/slides/slide8.xml" Id="Rf064c3e4bd81471a" /><Relationship Type="http://schemas.openxmlformats.org/officeDocument/2006/relationships/slide" Target="/ppt/slides/slide9.xml" Id="Ra48abc925ecf4599" /><Relationship Type="http://schemas.openxmlformats.org/officeDocument/2006/relationships/slide" Target="/ppt/slides/slide10.xml" Id="R7e8fe071bfd148ca" /><Relationship Type="http://schemas.openxmlformats.org/officeDocument/2006/relationships/slide" Target="/ppt/slides/slide11.xml" Id="R6a159a9449ff45bd" /><Relationship Type="http://schemas.openxmlformats.org/officeDocument/2006/relationships/slide" Target="/ppt/slides/slide12.xml" Id="R7b584ece8c6f4b3c" /><Relationship Type="http://schemas.openxmlformats.org/officeDocument/2006/relationships/slide" Target="/ppt/slides/slide13.xml" Id="Rb59a541d9acf4c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6f8b0578942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620aa4a574ac7" /><Relationship Type="http://schemas.openxmlformats.org/officeDocument/2006/relationships/notesMaster" Target="/ppt/notesMasters/notesMaster1.xml" Id="Ra8ba01beb11b47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917fe76a2a450d" /><Relationship Type="http://schemas.openxmlformats.org/officeDocument/2006/relationships/notesMaster" Target="/ppt/notesMasters/notesMaster1.xml" Id="R6fac1e9f653541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d8a52e98174efd" /><Relationship Type="http://schemas.openxmlformats.org/officeDocument/2006/relationships/notesMaster" Target="/ppt/notesMasters/notesMaster1.xml" Id="R296201fd198146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c5489f23d43f8" /><Relationship Type="http://schemas.openxmlformats.org/officeDocument/2006/relationships/notesMaster" Target="/ppt/notesMasters/notesMaster1.xml" Id="R65e2fa8b52a8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cc3f449c4b4d3b" /><Relationship Type="http://schemas.openxmlformats.org/officeDocument/2006/relationships/notesMaster" Target="/ppt/notesMasters/notesMaster1.xml" Id="R30a0c64d4aae46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a2d2657a8f4ce2" /><Relationship Type="http://schemas.openxmlformats.org/officeDocument/2006/relationships/notesMaster" Target="/ppt/notesMasters/notesMaster1.xml" Id="R23e9de874cac4c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2340fefa64249" /><Relationship Type="http://schemas.openxmlformats.org/officeDocument/2006/relationships/notesMaster" Target="/ppt/notesMasters/notesMaster1.xml" Id="Rbf94a8fe286745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145778697842ec" /><Relationship Type="http://schemas.openxmlformats.org/officeDocument/2006/relationships/notesMaster" Target="/ppt/notesMasters/notesMaster1.xml" Id="Re742784a708344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990614e8ef4bdf" /><Relationship Type="http://schemas.openxmlformats.org/officeDocument/2006/relationships/notesMaster" Target="/ppt/notesMasters/notesMaster1.xml" Id="R3b608344b4584c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5f574255674706" /><Relationship Type="http://schemas.openxmlformats.org/officeDocument/2006/relationships/notesMaster" Target="/ppt/notesMasters/notesMaster1.xml" Id="Rf681b613b8e44e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4812b995184d07" /><Relationship Type="http://schemas.openxmlformats.org/officeDocument/2006/relationships/notesMaster" Target="/ppt/notesMasters/notesMaster1.xml" Id="R00efb990a46c41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aee4c5917647f3" /><Relationship Type="http://schemas.openxmlformats.org/officeDocument/2006/relationships/notesMaster" Target="/ppt/notesMasters/notesMaster1.xml" Id="Rba0d6826aa2c46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951022832146f3" /><Relationship Type="http://schemas.openxmlformats.org/officeDocument/2006/relationships/notesMaster" Target="/ppt/notesMasters/notesMaster1.xml" Id="R07e548868894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category: AI code generation is abundant; code ownership is becoming scarce.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product screenshot: /Users/prestonjaysusanto/Desktop/Unvibe Resources/new app/Screenshot 2026-08-17 at 6.50.24 PM.png</a:t>
            </a:r>
          </a:p>
          <a:p xmlns:a="http://schemas.openxmlformats.org/drawingml/2006/main">
            <a:r>
              <a:t>- Brand asset: /Users/prestonjaysusanto/Unvibe/marketing/public/brand/icon-1024.png</a:t>
            </a:r>
          </a:p>
          <a:p xmlns:a="http://schemas.openxmlformats.org/drawingml/2006/main">
            <a:r>
              <a:t>- Prior pitch source: /Users/prestonjaysusanto/Desktop/Unvibe Resources/Unvibe_Pitch_Deck.pdf</a:t>
            </a:r>
          </a:p>
          <a:p xmlns:a="http://schemas.openxmlformats.org/drawingml/2006/main">
            <a:r>
              <a:t>- https://sequoiacap.com/article/writing-a-business-plan</a:t>
            </a:r>
          </a:p>
          <a:p xmlns:a="http://schemas.openxmlformats.org/drawingml/2006/main">
            <a:r>
              <a:t>- https://www.ycombinator.com/blog/guide-to-demo-day-pitches/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 a structural market shift, not a temporary feature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https://survey.stackoverflow.co/2025/ai</a:t>
            </a:r>
          </a:p>
          <a:p xmlns:a="http://schemas.openxmlformats.org/drawingml/2006/main">
            <a:r>
              <a:t>- https://www.ycombinator.com/blog/this-brief-guide-is-a-summary-of-what-startup-founders-need-to-know-about-raising-the-seed-funds-critical-to-getting-their-company-off-the-ground</a:t>
            </a:r>
          </a:p>
          <a:p xmlns:a="http://schemas.openxmlformats.org/drawingml/2006/main">
            <a:r>
              <a:t>- https://email.docsend.com/hubfs/The%20Pre-Seed%20Round%20Defined.pdf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full loop in under 30 seconds. Emphasize that Unvibe is not another generator.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- /Users/prestonjaysusanto/Unvibe/docs/architecture.md</a:t>
            </a:r>
          </a:p>
          <a:p xmlns:a="http://schemas.openxmlformats.org/drawingml/2006/main">
            <a:r>
              <a:t>- /Users/prestonjaysusanto/Unvibe/docs/privacy.md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current product screenshots, not mockups. Walk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/Users/prestonjaysusanto/Desktop/Unvibe Resources/new app/Screenshot 2026-08-17 at 6.50.21 PM.png</a:t>
            </a:r>
          </a:p>
          <a:p xmlns:a="http://schemas.openxmlformats.org/drawingml/2006/main">
            <a:r>
              <a:t>- User-provided screenshot: /Users/prestonjaysusanto/Desktop/Unvibe Resources/new app/Screenshot 2026-08-17 at 6.50.10 PM.png</a:t>
            </a:r>
          </a:p>
          <a:p xmlns:a="http://schemas.openxmlformats.org/drawingml/2006/main">
            <a:r>
              <a:t>- User-provided screenshot: /Users/prestonjaysusanto/Desktop/Unvibe Resources/new app/Screenshot 2026-08-17 at 6.50.17 PM.png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Unvibe against adjacent categories without claiming feature-for-feature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Prior competition framing: /Users/prestonjaysusanto/Desktop/Unvibe Resources/Unvibe_Pitch_Deck.pdf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- https://sequoiacap.com/article/writing-a-business-plan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external proof, then show qualitative retention signals. Do not present credits as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https://smolstartup.com/projects/unvibe</a:t>
            </a:r>
          </a:p>
          <a:p xmlns:a="http://schemas.openxmlformats.org/drawingml/2006/main">
            <a:r>
              <a:t>- https://unvibe.site/api/stats?include=waitlist</a:t>
            </a:r>
          </a:p>
          <a:p xmlns:a="http://schemas.openxmlformats.org/drawingml/2006/main">
            <a:r>
              <a:t>- User-provided beta feedback: Sharice Gustian, 29 Jul 2026</a:t>
            </a:r>
          </a:p>
          <a:p xmlns:a="http://schemas.openxmlformats.org/drawingml/2006/main">
            <a:r>
              <a:t>- User-provided beta feedback: Om Anand Khaunte, 25 Jul 2026</a:t>
            </a:r>
          </a:p>
          <a:p xmlns:a="http://schemas.openxmlformats.org/drawingml/2006/main">
            <a:r>
              <a:t>- Founder-reported historical early-access total supplied in this request; live store count checked 31 Aug 2026</a:t>
            </a:r>
          </a:p>
          <a:p xmlns:a="http://schemas.openxmlformats.org/drawingml/2006/main">
            <a:r>
              <a:t>- https://www.docsend.com/blog/data-driven-answers-to-frequently-asked-questions-on-startup-fundraising/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a credible beachhead before discussing enterprise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https://survey.stackoverflow.co/2025/ai</a:t>
            </a:r>
          </a:p>
          <a:p xmlns:a="http://schemas.openxmlformats.org/drawingml/2006/main">
            <a:r>
              <a:t>- Market framing adapted from /Users/prestonjaysusanto/Desktop/Unvibe Resources/Unvibe_Pitch_Deck.pdf</a:t>
            </a:r>
          </a:p>
          <a:p xmlns:a="http://schemas.openxmlformats.org/drawingml/2006/main">
            <a:r>
              <a:t>- https://sequoiacap.com/article/writing-a-business-plan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monetization clarity while separating currently available tiers from planned tiers.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/Users/prestonjaysusanto/Unvibe/marketing/src/components/redesign/PricingPlans.tsx</a:t>
            </a:r>
          </a:p>
          <a:p xmlns:a="http://schemas.openxmlformats.org/drawingml/2006/main">
            <a:r>
              <a:t>- /Users/prestonjaysusanto/Unvibe/marketing/src/data/faq.ts</a:t>
            </a:r>
          </a:p>
          <a:p xmlns:a="http://schemas.openxmlformats.org/drawingml/2006/main">
            <a:r>
              <a:t>- https://www.ycombinator.com/blog/this-brief-guide-is-a-summary-of-what-startup-founders-need-to-know-about-raising-the-seed-funds-critical-to-getting-their-company-off-the-ground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go-to-market strategy is community-led and measurable, not paid acquisition 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/Users/prestonjaysusanto/Unvibe/marketing/src/data/listings.ts</a:t>
            </a:r>
          </a:p>
          <a:p xmlns:a="http://schemas.openxmlformats.org/drawingml/2006/main">
            <a:r>
              <a:t>- https://smolstartup.com/projects/unvibe</a:t>
            </a:r>
          </a:p>
          <a:p xmlns:a="http://schemas.openxmlformats.org/drawingml/2006/main">
            <a:r>
              <a:t>- https://www.producthunt.com/products/unvibe?launch=unvibe</a:t>
            </a:r>
          </a:p>
          <a:p xmlns:a="http://schemas.openxmlformats.org/drawingml/2006/main">
            <a:r>
              <a:t>- https://dev.to/preston_jaysusanto_22498/how-to-review-ai-generated-code-without-losing-ownership-of-your-project-ndl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founder signal: speed with a functioning product and reliability work, not a prototype-only sprint.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/Users/prestonjaysusanto/Unvibe/marketing/src/data/milestones.ts</a:t>
            </a:r>
          </a:p>
          <a:p xmlns:a="http://schemas.openxmlformats.org/drawingml/2006/main">
            <a:r>
              <a:t>- Repository git history in /Users/prestonjaysusanto/Unvibe</a:t>
            </a:r>
          </a:p>
          <a:p xmlns:a="http://schemas.openxmlformats.org/drawingml/2006/main">
            <a:r>
              <a:t>- https://www.docsend.com/blog/seed-round-fundraising-tips-to-make-your-pitch-deck-a-hit-with-vc-investors/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credits are operating leverage, not fundraising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/Users/prestonjaysusanto/Unvibe/marketing/src/data/compensation.ts</a:t>
            </a:r>
          </a:p>
          <a:p xmlns:a="http://schemas.openxmlformats.org/drawingml/2006/main">
            <a:r>
              <a:t>- /Users/prestonjaysusanto/Unvibe/marketing/src/data/milestones.ts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preserves the range from the original deck while tying it to concrete milestones.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Prior ask and roadmap: /Users/prestonjaysusanto/Desktop/Unvibe Resources/Unvibe_Pitch_Deck.pdf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- https://a16z.com/raising-capital-this-is-the-advice-we-give-our-founders/</a:t>
            </a:r>
          </a:p>
          <a:p xmlns:a="http://schemas.openxmlformats.org/drawingml/2006/main">
            <a:r>
              <a:t>- https://a16z.com/the-insiders-guide-to-data-rooms-what-to-know-before-you-raise/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founder-market fit and the category ambition.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biography adapted from /Users/prestonjaysusanto/Desktop/Unvibe Resources/Unvibe_Pitch_Deck.pdf</a:t>
            </a:r>
          </a:p>
          <a:p xmlns:a="http://schemas.openxmlformats.org/drawingml/2006/main">
            <a:r>
              <a:t>- Brand asset: /Users/prestonjaysusanto/Unvibe/marketing/public/brand/icon-1024.png</a:t>
            </a:r>
          </a:p>
          <a:p xmlns:a="http://schemas.openxmlformats.org/drawingml/2006/main">
            <a:r>
              <a:t>- https://unvibe.site</a:t>
            </a:r>
          </a:p>
          <a:p xmlns:a="http://schemas.openxmlformats.org/drawingml/2006/main">
            <a:r>
              <a:t>- https://www.ycombinator.com/blog/aaron-harris-on-fundraising-and-meeting-with-investors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5be3f717c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a9911dfcb4f33" /><Relationship Type="http://schemas.openxmlformats.org/officeDocument/2006/relationships/slideLayout" Target="/ppt/slideLayouts/slideLayout1.xml" Id="R60bd2c71b5ad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d2c71b5ad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0d179c0fe4f2c" /><Relationship Type="http://schemas.openxmlformats.org/officeDocument/2006/relationships/image" Target="/ppt/media/image.png" Id="R2445934155764d70" /><Relationship Type="http://schemas.openxmlformats.org/officeDocument/2006/relationships/image" Target="/ppt/media/image2.png" Id="Re0e2c443827c4f39" /><Relationship Type="http://schemas.openxmlformats.org/officeDocument/2006/relationships/notesSlide" Target="/ppt/notesSlides/notesSlide1.xml" Id="R4908bbcecfd14f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f72ab18384ed0" /><Relationship Type="http://schemas.openxmlformats.org/officeDocument/2006/relationships/notesSlide" Target="/ppt/notesSlides/notesSlide2.xml" Id="Rfd64a485b8dd40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0220cea064694" /><Relationship Type="http://schemas.openxmlformats.org/officeDocument/2006/relationships/notesSlide" Target="/ppt/notesSlides/notesSlide3.xml" Id="R3667304fcbeb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26b512f634ef7" /><Relationship Type="http://schemas.openxmlformats.org/officeDocument/2006/relationships/image" Target="/ppt/media/image3.png" Id="R757bc32a2ca5424d" /><Relationship Type="http://schemas.openxmlformats.org/officeDocument/2006/relationships/image" Target="/ppt/media/image4.png" Id="R8e6135a8c3b44bfc" /><Relationship Type="http://schemas.openxmlformats.org/officeDocument/2006/relationships/image" Target="/ppt/media/image5.png" Id="R65209fc3de2e4296" /><Relationship Type="http://schemas.openxmlformats.org/officeDocument/2006/relationships/notesSlide" Target="/ppt/notesSlides/notesSlide4.xml" Id="R00b11791b24840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5d48a72624a95" /><Relationship Type="http://schemas.openxmlformats.org/officeDocument/2006/relationships/notesSlide" Target="/ppt/notesSlides/notesSlide5.xml" Id="R3d260e05fa4f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9ef2149334bc7" /><Relationship Type="http://schemas.openxmlformats.org/officeDocument/2006/relationships/notesSlide" Target="/ppt/notesSlides/notesSlide6.xml" Id="Rf302476f750f47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9b6630bbb461b" /><Relationship Type="http://schemas.openxmlformats.org/officeDocument/2006/relationships/notesSlide" Target="/ppt/notesSlides/notesSlide7.xml" Id="Rf8dab68754a643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a4477f39d417c" /><Relationship Type="http://schemas.openxmlformats.org/officeDocument/2006/relationships/notesSlide" Target="/ppt/notesSlides/notesSlide8.xml" Id="Rfc4a7c38fd9f41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23e84f2084dd8" /><Relationship Type="http://schemas.openxmlformats.org/officeDocument/2006/relationships/notesSlide" Target="/ppt/notesSlides/notesSlide9.xml" Id="R98f9a02f1d2c46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db52aa0b4db1" /><Relationship Type="http://schemas.openxmlformats.org/officeDocument/2006/relationships/notesSlide" Target="/ppt/notesSlides/notesSlide10.xml" Id="R37f1672977854d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18d4055534dc9" /><Relationship Type="http://schemas.openxmlformats.org/officeDocument/2006/relationships/notesSlide" Target="/ppt/notesSlides/notesSlide11.xml" Id="R769c6c4edbbf47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85041d5e14329" /><Relationship Type="http://schemas.openxmlformats.org/officeDocument/2006/relationships/notesSlide" Target="/ppt/notesSlides/notesSlide12.xml" Id="R9eb48721060f42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6e9f747a8492d" /><Relationship Type="http://schemas.openxmlformats.org/officeDocument/2006/relationships/image" Target="/ppt/media/image6.png" Id="Rb1a919e4a26d4d53" /><Relationship Type="http://schemas.openxmlformats.org/officeDocument/2006/relationships/notesSlide" Target="/ppt/notesSlides/notesSlide13.xml" Id="Rfe45df4dddfe42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9488E-2CE4-4413-AF10-06DEDB6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C02ED-5D70-4691-98A8-56E19E8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18B6C-92F7-4842-9ECD-99B11F3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9A138-6156-4701-B8C8-58B03F1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PRIVATE MAC 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E1966-8256-4DF0-8674-F40FBD7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CB586-05B8-499D-A578-62A0ADA4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5934155764d70"/>
          <a:stretch xmlns:a="http://schemas.openxmlformats.org/drawingml/2006/main"/>
        </p:blipFill>
        <p:spPr>
          <a:xfrm xmlns:a="http://schemas.openxmlformats.org/drawingml/2006/main">
            <a:off x="685800" y="5334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444AC-0B78-4702-BD56-9EC2C469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DF9"/>
                </a:solidFill>
              </a:defRPr>
            </a:pPr>
            <a:r>
              <a:rPr sz="825" b="1" i="0">
                <a:solidFill>
                  <a:srgbClr val="FFFDF9"/>
                </a:solidFill>
              </a:rPr>
              <a:t>UNVIBE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CB5FF-B62C-4F59-A12F-6FB54D6A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THE COMPREHENSION LAYER FOR AI-WRITTEN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1DC40-88F7-4943-8215-A1AF405F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715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9"/>
                </a:solidFill>
              </a:defRPr>
            </a:pPr>
            <a:r>
              <a:rPr sz="3600" b="1" i="0">
                <a:solidFill>
                  <a:srgbClr val="FFFDF9"/>
                </a:solidFill>
              </a:rPr>
              <a:t>Unvibe makes AI-written</a:t>
            </a:r>
          </a:p>
          <a:p xmlns:a="http://schemas.openxmlformats.org/drawingml/2006/main">
            <a:pPr algn="l">
              <a:defRPr sz="3600" b="1" i="0">
                <a:solidFill>
                  <a:srgbClr val="FFFDF9"/>
                </a:solidFill>
              </a:defRPr>
            </a:pPr>
            <a:r>
              <a:rPr sz="3600" b="1" i="0">
                <a:solidFill>
                  <a:srgbClr val="FFFDF9"/>
                </a:solidFill>
              </a:rPr>
              <a:t>code understandable.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46002-6C6A-4A08-8CF2-438D3991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8AABD"/>
                </a:solidFill>
              </a:defRPr>
            </a:pPr>
            <a:r>
              <a:rPr sz="1425" b="0" i="0">
                <a:solidFill>
                  <a:srgbClr val="B8AABD"/>
                </a:solidFill>
              </a:rPr>
              <a:t>A Mac-first product that turns every AI-generated change into understanding, verification, and retained project knowledge.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F1B3E-B2CA-4946-A345-A81FC25A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638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A9E27-951A-4B2A-9F14-8277905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3448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SELECT → EXPLAIN → ASK → TEST →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204E9-0879-444C-8573-6CA94E8D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Preston Susanto · Founder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4FF31-E19B-47A7-9011-B8FC0A08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66A7D"/>
                </a:solidFill>
              </a:defRPr>
            </a:pPr>
            <a:r>
              <a:rPr sz="825" b="0" i="0">
                <a:solidFill>
                  <a:srgbClr val="766A7D"/>
                </a:solidFill>
              </a:rPr>
              <a:t>Private beta · August 2026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2c443827c4f39"/>
          <a:srcRect xmlns:a="http://schemas.openxmlformats.org/drawingml/2006/main" l="16979" t="0" r="16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990600"/>
            <a:ext cx="47625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</p:spTree>
    <p:extLst>
      <p:ext uri="{BB962C8B-B14F-4D97-AF65-F5344CB8AC3E}">
        <p14:creationId xmlns:p14="http://schemas.microsoft.com/office/powerpoint/2010/main" val="681554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8949F-BF11-42AB-AC7A-36AEFCF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2F91E-9CD7-43AF-9A85-24F6B637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07709-427C-4E1E-A722-15BC725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C18CC-883A-4A9F-B191-C9555D8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BF1A4-7986-41D0-AF9D-186794D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5732A-7E01-453E-837C-A1AAE7FE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4BFBB-FDB9-4689-A41D-B6DCBC5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17E1C-E3B1-4299-95CD-A7CA99BB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The faster AI ships code,</a:t>
            </a:r>
          </a:p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the harder ownership becomes.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C3003-F51B-4C97-A7A3-B95968B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The bottleneck moved from generating code to verifying, explaining, and remembering what shipped.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6066A-1C22-4B40-A832-18407259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A57BF3"/>
                </a:solidFill>
              </a:defRPr>
            </a:pPr>
            <a:r>
              <a:rPr sz="2850" b="1" i="0">
                <a:solidFill>
                  <a:srgbClr val="A57BF3"/>
                </a:solidFill>
              </a:rPr>
              <a:t>84%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4C42A-D46A-4F29-BBC4-1A4EB461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use or plan to use AI in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FF205-B7DE-4621-A924-DD8A65A2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E65CA7"/>
                </a:solidFill>
              </a:defRPr>
            </a:pPr>
            <a:r>
              <a:rPr sz="2850" b="1" i="0">
                <a:solidFill>
                  <a:srgbClr val="E65CA7"/>
                </a:solidFill>
              </a:rPr>
              <a:t>66%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A7932-3862-4E19-98A0-E71E89A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say AI answers are almost 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FE676-3FAE-4E1C-906D-AA405285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86D3D"/>
                </a:solidFill>
              </a:defRPr>
            </a:pPr>
            <a:r>
              <a:rPr sz="2850" b="1" i="0">
                <a:solidFill>
                  <a:srgbClr val="D86D3D"/>
                </a:solidFill>
              </a:rPr>
              <a:t>45%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B76A5-25C9-482F-AAC5-ACE8AD6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29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spend longer debugging AI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447F2-FAA6-42E7-A6BF-73C38B4B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F65E8"/>
                </a:solidFill>
              </a:defRPr>
            </a:pPr>
            <a:r>
              <a:rPr sz="2850" b="1" i="0">
                <a:solidFill>
                  <a:srgbClr val="3F65E8"/>
                </a:solidFill>
              </a:rPr>
              <a:t>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8CA8E-9C4D-4BAC-97D9-9FB4370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highly trust AI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44992-994F-4149-B142-C5295E90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012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5DA25-BB9D-4DF7-AD6A-6AF8109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DF9"/>
                </a:solidFill>
              </a:defRPr>
            </a:pPr>
            <a:r>
              <a:rPr sz="2025" b="1" i="0">
                <a:solidFill>
                  <a:srgbClr val="FFFDF9"/>
                </a:solidFill>
              </a:rPr>
              <a:t>Generation is solved. Ownership is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49DE5-7CF6-4810-B68C-356D7239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That gap becomes a learning, reliability, and governance problem.</a:t>
            </a:r>
          </a:p>
        </p:txBody>
      </p:sp>
    </p:spTree>
    <p:extLst>
      <p:ext uri="{BB962C8B-B14F-4D97-AF65-F5344CB8AC3E}">
        <p14:creationId xmlns:p14="http://schemas.microsoft.com/office/powerpoint/2010/main" val="281901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E39733-53AC-4A22-927D-FFE9C23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0D2C-929F-4A80-BDD7-1768ACBB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A7C1-398B-45B3-82C9-136501E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257E8-93DF-4F16-A6E4-82848A4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DA33A-555C-4D49-ADBB-DA3D7EDE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0FE1B-6C29-4F72-95BC-E2D5BDDF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87113-D4B4-4215-8236-4DA171B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1F2F9-78EC-4128-99CF-D869D97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Review the change.</a:t>
            </a:r>
          </a:p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Learn it before it ships.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EEFEC-E2C9-4A69-A386-DF6A8E46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Highlight code in Cursor or VS Code, press ⌘U, and get a contextual explanation without leaving the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8515A-ECD5-4F0F-A63A-A060614A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4B014-B631-49E1-A6D8-D145DA2E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E6756-561C-4472-BBC7-4FB6707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2ADE-E98C-462D-BA83-2B74322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Exact code, file, or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9C8A5-FB85-41BD-9CAB-5A18D18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0E286-9CDE-4831-A6A3-D7B661C7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24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7BCE3-115C-4914-9970-6A6EF66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E66A5-1F75-4FBC-9CBB-1DCB78E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2BD28-66CA-4576-9C9F-748518CA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Five depth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6ACE6-4268-450C-82CC-F3E02D20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4226F-E6FA-4098-8931-F94E756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E9CC3-9AF1-4975-8B40-0E7E6E2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2858C-216E-4625-B265-CEE8AC51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B0385-814B-439D-879E-39769954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Context-aware follow-up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0E0C4-C6A0-427D-AF56-CB1CE541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4FCC7-1ED0-4A43-ABDF-82EA3CC1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DF153-AC0C-4FA1-B822-6DC9342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28EAA-D184-48BC-A844-3ACBE97D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3C6E7-CD16-4479-ACE2-5CACF65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One comprehension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9129E-263D-4FA8-A1A2-A2BE2086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7EDEEB-EC85-48B5-81E6-F20EE7A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D44CA5-5980-4630-A755-F4C4C53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5002F-5D70-4B8C-88DB-FE15F4D7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SAVE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08D833-BF1B-4F19-A176-8A0147CB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Learning becomes 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0F12D-0060-4CA0-9EFD-18DE42F1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12B8A8-BBF2-46F2-A3F3-F527AA0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4BC084"/>
                </a:solidFill>
              </a:defRPr>
            </a:pPr>
            <a:r>
              <a:rPr sz="750" b="1" i="0">
                <a:solidFill>
                  <a:srgbClr val="4BC084"/>
                </a:solidFill>
              </a:rPr>
              <a:t>LOCAL SECRET FILTER BEFORE EVERY REMOTE REQUEST</a:t>
            </a:r>
          </a:p>
        </p:txBody>
      </p:sp>
    </p:spTree>
    <p:extLst>
      <p:ext uri="{BB962C8B-B14F-4D97-AF65-F5344CB8AC3E}">
        <p14:creationId xmlns:p14="http://schemas.microsoft.com/office/powerpoint/2010/main" val="1283659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63035-7813-484F-9EDB-F83147D3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93162-4CF9-455A-8F90-02335E87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60FE9-E086-40F3-96B6-F54647B7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93B4-0415-4251-8FCB-85408F07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B5D96-93FD-414B-842B-F82C7CB0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12570-3EDD-4FDB-813E-B06699B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D58C7-3744-45CA-B4EF-C2255CA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PRODUCT IN HANDS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550AA-DE57-4FA8-A60E-81FA748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One layer. Three moments of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71D1D-FDB4-4E53-A959-EDEFB500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Review the change now. Revisit it later. Prove you retained it.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bc32a2ca5424d"/>
          <a:srcRect xmlns:a="http://schemas.openxmlformats.org/drawingml/2006/main" l="19771" t="0" r="19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050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135a8c3b44bfc"/>
          <a:srcRect xmlns:a="http://schemas.openxmlformats.org/drawingml/2006/main" l="16966" t="0" r="16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3050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09fc3de2e4296"/>
          <a:srcRect xmlns:a="http://schemas.openxmlformats.org/drawingml/2006/main" l="16837" t="0" r="16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3050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FE78C-EE2D-4A22-A011-EE00FEC6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816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172F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036DB-8A12-4903-A0CB-18A3442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5787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160C2-BDC9-4970-9796-EEAFDF4A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816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172F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64F17-62A6-40FF-BEFD-38E89D95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85787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RETAIN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3569C-DE24-489D-B653-1F73983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7816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172F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E5D62-3793-48CF-B974-BEE4D3BE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85787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PROVE</a:t>
            </a:r>
          </a:p>
        </p:txBody>
      </p:sp>
    </p:spTree>
    <p:extLst>
      <p:ext uri="{BB962C8B-B14F-4D97-AF65-F5344CB8AC3E}">
        <p14:creationId xmlns:p14="http://schemas.microsoft.com/office/powerpoint/2010/main" val="1931552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C57CE-4623-4EA3-AF12-69A16E9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EA870-0408-4A5E-B5D9-519DF054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B6D22-DD6A-43EE-B650-C1513CF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6108-0E6A-459D-BF35-0B7D9824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1808A-69AB-4F6B-ADF7-06CC57E4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703CD-F35A-4E37-B72C-B7AE053B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570CA-7DF3-47CE-BDDD-3F085CBD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POSITIONING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757DF-3798-480F-9ED2-4B8C156A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Generation creates output.</a:t>
            </a:r>
          </a:p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Unvibe creates ownership.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5CCCF-22F5-40A5-8363-A4E24BA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7BA13-1C7B-4550-BA08-F1EC3068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Coding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53596-27A2-4FB8-A2ED-EE0321D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Generate and edit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707C8-1809-486D-BC89-629CFA65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66A7D"/>
                </a:solidFill>
              </a:defRPr>
            </a:pPr>
            <a:r>
              <a:rPr sz="975" b="0" i="0">
                <a:solidFill>
                  <a:srgbClr val="766A7D"/>
                </a:solidFill>
              </a:rPr>
              <a:t>Do not build learning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66B39-B584-4108-9124-579801F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593DB-08A9-4F8A-82A6-800E5015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Generic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C7DE9-AE8A-4E5D-A800-358DA90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Explain pasted snippets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6249E-94B3-4D4C-921D-B2B8C8FF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66A7D"/>
                </a:solidFill>
              </a:defRPr>
            </a:pPr>
            <a:r>
              <a:rPr sz="975" b="0" i="0">
                <a:solidFill>
                  <a:srgbClr val="766A7D"/>
                </a:solidFill>
              </a:rPr>
              <a:t>Misses workflow and project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CE65B-389E-4AA3-A979-8224879B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7971F-5740-436E-8521-1E95A6A6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Course platforms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1D18E-C3F8-41D7-8B92-3EE8CFDB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148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Teach fixed curricula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9132C-9176-4D47-B021-1BE49D24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66A7D"/>
                </a:solidFill>
              </a:defRPr>
            </a:pPr>
            <a:r>
              <a:rPr sz="975" b="0" i="0">
                <a:solidFill>
                  <a:srgbClr val="766A7D"/>
                </a:solidFill>
              </a:rPr>
              <a:t>Disconnected from what shipped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E8D02-0808-4180-BA60-AD2CBDF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E2476-341E-4E8A-BBC3-E9B1B929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Unvibe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5A313-9337-42FF-B694-74517EFF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967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Explains your selected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8F44E-B419-4943-B6C2-736066C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96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DF9"/>
                </a:solidFill>
              </a:defRPr>
            </a:pPr>
            <a:r>
              <a:rPr sz="975" b="0" i="0">
                <a:solidFill>
                  <a:srgbClr val="FFFDF9"/>
                </a:solidFill>
              </a:rPr>
              <a:t>Tests, saves, and tracks 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F8FC9-61BB-4123-8CBC-DCE72BED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FAEE6-82B1-476E-A418-0C322951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4BC084"/>
                </a:solidFill>
              </a:defRPr>
            </a:pPr>
            <a:r>
              <a:rPr sz="750" b="1" i="0">
                <a:solidFill>
                  <a:srgbClr val="4BC084"/>
                </a:solidFill>
              </a:rPr>
              <a:t>WORKFLOW CONTEXT + ACTIVE RECALL + RETENTION</a:t>
            </a:r>
          </a:p>
        </p:txBody>
      </p:sp>
    </p:spTree>
    <p:extLst>
      <p:ext uri="{BB962C8B-B14F-4D97-AF65-F5344CB8AC3E}">
        <p14:creationId xmlns:p14="http://schemas.microsoft.com/office/powerpoint/2010/main" val="1016852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17241-46A7-425F-BA09-A8C11549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A49BA-182B-458C-B0B2-3533A6D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2388E-2BBF-4645-8D24-1140C80A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1899E-53F6-4AD5-9297-78D75B3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69AC-B91E-4688-85A6-89B4737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0B1A9-594D-4980-B5BB-C883D37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D71B-DAAC-4E4A-BDF7-77DAA3A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EARLY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52271-50B3-434D-92CB-D973E80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71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DF9"/>
                </a:solidFill>
              </a:defRPr>
            </a:pPr>
            <a:r>
              <a:rPr sz="3300" b="1" i="0">
                <a:solidFill>
                  <a:srgbClr val="FFFDF9"/>
                </a:solidFill>
              </a:rPr>
              <a:t>Small launch. Real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B6E63-9FCD-4382-AA56-3DD4159B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A57BF3"/>
                </a:solidFill>
              </a:defRPr>
            </a:pPr>
            <a:r>
              <a:rPr sz="2850" b="1" i="0">
                <a:solidFill>
                  <a:srgbClr val="A57BF3"/>
                </a:solidFill>
              </a:rPr>
              <a:t>30+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B7C18-B4CD-4259-91FE-9D0A2E4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historical early-access signups*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24B9D-294D-4B7A-BF74-0BF8629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E65CA7"/>
                </a:solidFill>
              </a:defRPr>
            </a:pPr>
            <a:r>
              <a:rPr sz="2850" b="1" i="0">
                <a:solidFill>
                  <a:srgbClr val="E65CA7"/>
                </a:solidFill>
              </a:rPr>
              <a:t>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EA359-2333-4CD3-A317-252240C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Smol Startup upvotes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60DCA-DB50-4AE8-9303-F437437E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90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86D3D"/>
                </a:solidFill>
              </a:defRPr>
            </a:pPr>
            <a:r>
              <a:rPr sz="2850" b="1" i="0">
                <a:solidFill>
                  <a:srgbClr val="D86D3D"/>
                </a:solidFill>
              </a:rPr>
              <a:t>#1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8AFD3-7D39-4AAC-8CF3-12D80E9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Smol Startup Daily Winner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5738D-54A5-4C3F-BBF9-1368D936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F65E8"/>
                </a:solidFill>
              </a:defRPr>
            </a:pPr>
            <a:r>
              <a:rPr sz="2850" b="1" i="0">
                <a:solidFill>
                  <a:srgbClr val="3F65E8"/>
                </a:solidFill>
              </a:rPr>
              <a:t>136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8EE5F-0D53-4E68-A233-542CE75F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unique site visitors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B5F63-563B-4D55-8C4F-D3902F4B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43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5A6FF-D155-4FB2-9E85-70EE7A53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FFFDF9"/>
                </a:solidFill>
              </a:defRPr>
            </a:pPr>
            <a:r>
              <a:rPr sz="1575" b="0" i="1">
                <a:solidFill>
                  <a:srgbClr val="FFFDF9"/>
                </a:solidFill>
              </a:rPr>
              <a:t>“The test option is very useful to recap what was learnt.”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CD64A-1754-4550-BD04-A6AD248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Sharice Gustian · private beta · 9/10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63076-C859-45A8-9FE0-74D8E1D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29050"/>
            <a:ext cx="5143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ADD78-DD5D-419C-B729-7F55A249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FFFDF9"/>
                </a:solidFill>
              </a:defRPr>
            </a:pPr>
            <a:r>
              <a:rPr sz="1575" b="0" i="1">
                <a:solidFill>
                  <a:srgbClr val="FFFDF9"/>
                </a:solidFill>
              </a:rPr>
              <a:t>“The explanation depth and customization felt genuinely creative.”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4D83B-43F9-4951-BE6D-7C8F5953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Om Anand Khaunte · private beta · 7/10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F811B-7BA9-42A2-9094-F8D108F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66A7D"/>
                </a:solidFill>
              </a:defRPr>
            </a:pPr>
            <a:r>
              <a:rPr sz="675" b="0" i="0">
                <a:solidFill>
                  <a:srgbClr val="766A7D"/>
                </a:solidFill>
              </a:rPr>
              <a:t>*Founder-reported across the pre-reset waitlist and early beta intake; current live store is tracked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58013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F5E4E-4210-4863-8B56-42282CC9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01A03-054B-44FB-92B1-04CD474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F110A-919E-4053-B5C3-5A455AFC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D5CD4-50D7-401E-89EF-CDC792E8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41971-F541-44E3-9528-A4AE2509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DADEF-EA2A-48FC-81F1-D0C09633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EF68B-4EBD-49C1-A15F-C45DE400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MARKET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45BE3-2EF3-4D10-8E9C-3A3B5CAD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00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Start where AI speed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creates the sharpest pain.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56618-56A6-4DDA-A115-2E906B74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87BE2-C847-427C-922B-5CC29E7A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7B258-1F55-4991-93EF-31F833B7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AI-first 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6C95E-82E3-4516-ACBD-B5303F29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Ship quickly, learn unevenly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176A5-0271-43DD-9C44-15E17F2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0676F-E17F-4AD8-AA99-6702D563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A5A31-AC14-41D8-9E94-F240895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Solo builders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154BD-3F9B-421C-A07D-036A11C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Own every line they 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BDFB9-FB5E-46C7-8313-432FE92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CA291-1A01-44AA-8F3D-F1694AA8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6476E-57FC-4032-877C-F7985DE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Developer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FD203-CCCF-46BB-A16A-D4794072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Need shared comprehension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0D247-C8E4-405F-AEC8-ED1D359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16C04-9BD6-42E0-A11D-9000E241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C36CB-EA2B-446E-8F27-D247489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Regulated teams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CDFB7-9661-4315-A7B4-4556E4D5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Need evidence and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69853-0EF4-4573-8747-B8FE260B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AABD"/>
                </a:solidFill>
              </a:defRPr>
            </a:pPr>
            <a:r>
              <a:rPr sz="1125" b="0" i="0">
                <a:solidFill>
                  <a:srgbClr val="B8AABD"/>
                </a:solidFill>
              </a:rPr>
              <a:t>The recurring unit is a review, not a course. The expansion path follows code responsibility from individual learning to team assurance.</a:t>
            </a:r>
          </a:p>
        </p:txBody>
      </p:sp>
    </p:spTree>
    <p:extLst>
      <p:ext uri="{BB962C8B-B14F-4D97-AF65-F5344CB8AC3E}">
        <p14:creationId xmlns:p14="http://schemas.microsoft.com/office/powerpoint/2010/main" val="1848516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E9864-A3CC-48B5-8BA6-EBF583DF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45920-8E88-4B0B-87F0-5282601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E027-A8FC-46D8-BDFC-DB017A6D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C16D9-9807-4BAD-8111-E15D8410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1E62B-BB6A-42FF-BE02-26F3DE26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08DA0-BF85-4B7E-AA4E-33222631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BD6CA-8DD2-43E5-8071-88010F4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BUSINESS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C68E9-87D6-402B-9B41-DFE0495A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Free to build the habit.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Paid when the project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C1E43-D59B-47C8-8E8A-95DD847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9F5F5-0276-4125-B5E3-0DF53F4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E46EC-13CB-499A-B70E-D595EFD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4D3CB-4B78-4791-8823-B33AB30C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Core selected-code review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Saved learning + study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1DAC5-01EB-42D5-9D9A-FB672836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21E4D-5A39-4749-8254-4C3B66A6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62A65-B018-433A-B505-01E1B6D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$8/mo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F91C8-5C30-45C1-AFF9-F5D601DF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More reviews + AI questions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Personal learning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FA4AB-7ACF-41AC-BAF8-C6A0E21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05F5B-0BC3-47CD-8EDB-A8AD2EFC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0231D-7AE1-4FB0-9BA1-73F4272A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$8/seat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FED32-E7C7-4241-95AB-46E0E03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Shared workspace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2-seat 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7A7A1-D0EA-4757-B760-C058237A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B6632-9722-4466-82EE-52073B35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766A7D"/>
                </a:solidFill>
              </a:defRPr>
            </a:pPr>
            <a:r>
              <a:rPr sz="750" b="1" i="0">
                <a:solidFill>
                  <a:srgbClr val="766A7D"/>
                </a:solidFill>
              </a:rPr>
              <a:t>COMING SOON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A7912-F419-45BE-B204-A69E624C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33300-8554-48FC-B656-BE58EC0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ENTERPRISE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C12CEC-1FE6-4934-9E49-9870D317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Custom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80FC8-F8E7-44CB-A5C8-3361697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Annual contract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Integrations +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F0E65-CB8F-4488-A90E-A1E4E9A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7D03C-2360-4D41-A2AB-D9DDE77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766A7D"/>
                </a:solidFill>
              </a:defRPr>
            </a:pPr>
            <a:r>
              <a:rPr sz="750" b="1" i="0">
                <a:solidFill>
                  <a:srgbClr val="766A7D"/>
                </a:solidFill>
              </a:rPr>
              <a:t>CONTACT SALES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818FD-9DA1-449B-B194-334E0289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Annual plans discount 25%. Model access is included—no provider API key required.</a:t>
            </a:r>
          </a:p>
        </p:txBody>
      </p:sp>
    </p:spTree>
    <p:extLst>
      <p:ext uri="{BB962C8B-B14F-4D97-AF65-F5344CB8AC3E}">
        <p14:creationId xmlns:p14="http://schemas.microsoft.com/office/powerpoint/2010/main" val="777927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EBBB2-35A4-4A2F-92F7-0FC6C32C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1FA2-E9F2-406A-B2A1-E3AFF1B1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1190C-2963-46E3-854A-D2031928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81611-4143-4A03-9301-48017307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3F2A5-6C4E-41DB-840E-D6F76BBC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018D0-7CB0-47EB-9100-A23861BC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AFBA4-B8BD-4F17-BF7B-0F98CC45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BD5C2-54AB-4AC4-B423-C767B7CB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DF9"/>
                </a:solidFill>
              </a:defRPr>
            </a:pPr>
            <a:r>
              <a:rPr sz="2925" b="1" i="0">
                <a:solidFill>
                  <a:srgbClr val="FFFDF9"/>
                </a:solidFill>
              </a:rPr>
              <a:t>Go where AI-first builders</a:t>
            </a:r>
          </a:p>
          <a:p xmlns:a="http://schemas.openxmlformats.org/drawingml/2006/main">
            <a:pPr algn="l">
              <a:defRPr sz="2925" b="1" i="0">
                <a:solidFill>
                  <a:srgbClr val="FFFDF9"/>
                </a:solidFill>
              </a:defRPr>
            </a:pPr>
            <a:r>
              <a:rPr sz="2925" b="1" i="0">
                <a:solidFill>
                  <a:srgbClr val="FFFDF9"/>
                </a:solidFill>
              </a:rPr>
              <a:t>already share what they 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42A23-B8C9-4B78-A52E-D32F394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ABD"/>
                </a:solidFill>
              </a:defRPr>
            </a:pPr>
            <a:r>
              <a:rPr sz="1275" b="0" i="0">
                <a:solidFill>
                  <a:srgbClr val="B8AABD"/>
                </a:solidFill>
              </a:rPr>
              <a:t>A founder-led motion that turns public building, directories, hackathons, and student communities into beta conversations.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07AD9-95BE-4997-A359-FCBA1DC7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02AFE-45FF-4C52-A49C-907A49D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SMOL STARTUP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B77ED-DF42-4A32-9548-D3D72142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C4159-8603-43F7-8FF1-79E26B1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7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PRODUCT HUNT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E3AFF-574E-457E-8381-BC95DF67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909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7A968-3410-4068-970F-D9087038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67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DEV COMMUNITY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979AA-58E5-48EB-92B6-E243D65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FCD2C-06F9-4F5D-95FC-8024C63F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LAUNCHKIWI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D3941-2F8C-4D08-B051-BAA460F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1AAC3-F3BA-4FBD-BC28-76DD5C4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9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TOOL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6067E-219C-469F-820A-43F480AE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4B778-EF78-4BB7-A6D3-BB15FB6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DEVROVE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1D2B2-56CE-4448-8DB5-A3A2AAD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EFDE7-FCA2-47E1-92A5-B34E787D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AI TOOL 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DB193-D939-48F0-98B9-7E05612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95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475BD3-42F9-4A1C-B024-3860CF0E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VIBERANK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5AC87-55E0-4A2E-B083-C7E41D2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2A541-6F88-4B0F-AD42-6EAA42C7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SIDEPROJECTORS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631A2-12DA-48C0-8399-FAD2306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343150" cy="3086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E2C315-622F-411E-BDCA-1ECB2EF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146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NEXT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952DC-8BC0-462A-B55F-100F0FA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18E06-03E3-4CDF-A098-9344E9BF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beta builders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956BD-9CA2-4BAF-852F-320A87B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Measure activation: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select → understand → save → return.</a:t>
            </a:r>
          </a:p>
        </p:txBody>
      </p:sp>
    </p:spTree>
    <p:extLst>
      <p:ext uri="{BB962C8B-B14F-4D97-AF65-F5344CB8AC3E}">
        <p14:creationId xmlns:p14="http://schemas.microsoft.com/office/powerpoint/2010/main" val="542214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DB807-5E69-4CFE-9359-C9C706D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B4261-5D6E-4379-94A3-5F266A2D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53278-C58D-44CE-A4C9-21BBEABD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EF06E-8397-4C40-980D-527F9346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510EC-2667-40B6-843A-AC0FAEBC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CA4FC-D7F3-4729-9D21-BAF90332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9F283-7CE7-4715-9E40-C619D59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F969C-739F-4AF0-B7CD-92A5029E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Seven weeks from pivot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to working private beta.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B7CD8-25DE-43FC-96CD-A49DF4A8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6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D5402-32C3-40EF-96C5-31A698D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C36EC-C2F0-4075-BA0F-8AE758C1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11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BCF9C-128A-4F9F-ADA3-C657163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Desktop pivot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08F3D-A185-4881-A2D4-A360145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342FB-6E74-4AFF-A22B-1DAFEE1F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14 JUL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38C59-A177-4F3A-A5D2-47F46FEF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unvibe.site 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8AB2E-88D6-4C8E-A3AA-A39C384C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9749D-53B0-4696-992B-045B703D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24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0FECF-42D0-45E8-B39E-F8A7F55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Private Mac beta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50410-757D-48A8-A750-DCA07BA8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C060D-6BFF-4CC1-8C91-6D22CF9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27 JUL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B225A-8981-4056-82F4-3E6734D3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⌘U auto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240F1-A6F6-4115-870A-4D64FBC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AD5A8-AA38-4E76-AD24-55B193B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17 AUG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78B52-8850-45CE-9BDD-B161250E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Pricing + gifting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FF10F-70D8-4D46-B25E-3502DE15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0BBC78-2C73-45E1-B324-08922584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26 AUG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FA1FE-B94D-42C3-9015-EF18F633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#1 daily winner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10F54-DCE8-4C5A-870F-19E6798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57275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26A38-65EA-4DFC-B985-9CB3830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Selection bridge · secret filtering · streaming AI · study loop · usage meters · Google sign-in · durable waitlist</a:t>
            </a:r>
          </a:p>
        </p:txBody>
      </p:sp>
    </p:spTree>
    <p:extLst>
      <p:ext uri="{BB962C8B-B14F-4D97-AF65-F5344CB8AC3E}">
        <p14:creationId xmlns:p14="http://schemas.microsoft.com/office/powerpoint/2010/main" val="143407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4103F5-81E4-4BB1-A436-C3E6699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4C1ED-5BB1-47C5-AA6F-D232BF00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6AB12-5A4C-459F-AF6B-4CBE04E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09292-8D2E-4CC0-B790-03BD95A3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AF7EC-ED22-45B9-BE55-A878B907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2E9CD-369C-45A2-AE48-B709731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3C955-449D-4FDB-9F64-F0890943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CAPITAL EFFICIENCY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A7C35-F92C-4E0B-AE30-A10247B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$232.7K in startup support.</a:t>
            </a:r>
          </a:p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Built without a priced round.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D6B95-6229-4668-957A-B97BB013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AABD"/>
                </a:solidFill>
              </a:defRPr>
            </a:pPr>
            <a:r>
              <a:rPr sz="1200" b="0" i="0">
                <a:solidFill>
                  <a:srgbClr val="B8AABD"/>
                </a:solidFill>
              </a:rPr>
              <a:t>$231.9K is program and platform credit; $800 is founder-reported cash support. Credits are not cash and not investment proceeds.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A5FA0-F07E-438C-84A7-A87868F4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Mixpanel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7BC27-CC8B-47B2-8D09-22ED53C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$144K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CCFEF-9E5E-4603-96B9-7BB40E3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4E3EE-FA1F-4A33-8809-49DECA02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PostHog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C66D0-EE03-411D-9A0A-B6058444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$50K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3A482-CD06-4A77-A5A6-2D74F08D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38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33A1B-6AF3-44FF-ACB0-485B2BED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GitLab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C6072-1E5B-4890-9C18-0AB3948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$23.7K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46DBF-D96E-4A6C-BFF7-F833B9D9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338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2DDE1-52C6-41EE-BE98-1B5D443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55571-5DFD-4F77-9F84-C100457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386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25198-1547-4C25-9B60-B8A7DEC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D3936-100D-471A-811F-8C832C2C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Linear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A948E-398E-487F-8AEC-95DD99AC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386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$4.5K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7B061-4B14-4F6F-A6FC-8BBBADB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005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6FDA3-7FE5-4838-840A-58462289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Google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E024C-F7F4-4810-9CE3-5E706FD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386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$2K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16718C-E202-4A42-9B31-8846BBF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94067-7646-465F-A99F-211510A5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OpenAI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EC6F8-2EBB-4C4B-9826-7F74D5AF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$1.2K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B37AE-A686-4556-B797-1A19BCB5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0752C6-C376-4ABD-83F7-2E231896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Deepgram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FED80E-35FB-4E21-AB99-59195279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053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$1K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9CF4DD-0784-4A18-87B7-F68B2D0A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67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82176B-6CC2-4AB9-BC24-FB52B59A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MongoDB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E5B07-560D-469B-B202-1F1C7ED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053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$500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47C91B-68FC-46FF-B285-A8DCF47F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67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032654-C234-4ED1-8033-685833E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6289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1D78D8-A67D-4516-A11D-A6E66313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WHAT THIS BUYS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4A0E4E-09CF-4616-A7AA-A1703D88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DF9"/>
                </a:solidFill>
              </a:defRPr>
            </a:pPr>
            <a:r>
              <a:rPr sz="1275" b="1" i="0">
                <a:solidFill>
                  <a:srgbClr val="FFFDF9"/>
                </a:solidFill>
              </a:rPr>
              <a:t>Runway for analytics, infra, AI evaluation, and secure developer operations.</a:t>
            </a:r>
          </a:p>
        </p:txBody>
      </p:sp>
    </p:spTree>
    <p:extLst>
      <p:ext uri="{BB962C8B-B14F-4D97-AF65-F5344CB8AC3E}">
        <p14:creationId xmlns:p14="http://schemas.microsoft.com/office/powerpoint/2010/main" val="667034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8650A-8CF7-4D25-8848-CC5F6E97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B46A-772A-4C78-A71B-94F31DFC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BDA92-8B52-4509-B025-7593D338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84C68-D989-4E4F-A245-9002402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C2AD9-312E-41B8-B366-393521BD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62199-09DE-478E-B837-A3AD4F7B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0938C-0F12-45AD-811C-122981F2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NEXT 12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8C5EF-9C51-4DCE-8692-7C9DBD5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Turn a working loop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into a repeatable habit.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ADDC9-DB37-480C-9BBE-5913C862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D25C-5E74-4BCC-BBB8-6B5228E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F14C6-52EA-4680-A558-7B4E81B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9"/>
                </a:solidFill>
              </a:defRPr>
            </a:pPr>
            <a:r>
              <a:rPr sz="1575" b="1" i="0">
                <a:solidFill>
                  <a:srgbClr val="FFFDF9"/>
                </a:solidFill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2FA2-9CA8-4D55-9DB9-129A614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ABD"/>
                </a:solidFill>
              </a:defRPr>
            </a:pPr>
            <a:r>
              <a:rPr sz="1050" b="0" i="0">
                <a:solidFill>
                  <a:srgbClr val="B8AABD"/>
                </a:solidFill>
              </a:rPr>
              <a:t>Notarize the Mac app. Harden capture, streaming, and offline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74523-F487-46A1-BA20-9A39BF1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337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88974-A885-46B6-886C-D71E7862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7B383-9043-4A8B-A7B9-C8FCF1EE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9"/>
                </a:solidFill>
              </a:defRPr>
            </a:pPr>
            <a:r>
              <a:rPr sz="1575" b="1" i="0">
                <a:solidFill>
                  <a:srgbClr val="FFFDF9"/>
                </a:solidFill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2FE6C-091A-4285-818E-2B56A762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ABD"/>
                </a:solidFill>
              </a:defRPr>
            </a:pPr>
            <a:r>
              <a:rPr sz="1050" b="0" i="0">
                <a:solidFill>
                  <a:srgbClr val="B8AABD"/>
                </a:solidFill>
              </a:rPr>
              <a:t>Weekly review rhythm, stronger concepts, personal notes, visual learning aids.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97373-DAC1-4BAC-907F-6F1E75BD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E42AD-7633-402B-96B8-6DD78EB8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THEN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65572-20A2-40C9-9B75-C5FF36E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9"/>
                </a:solidFill>
              </a:defRPr>
            </a:pPr>
            <a:r>
              <a:rPr sz="1575" b="1" i="0">
                <a:solidFill>
                  <a:srgbClr val="FFFDF9"/>
                </a:solidFill>
              </a:rPr>
              <a:t>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D3C59-A535-4595-98F2-8D3EEDD3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ABD"/>
                </a:solidFill>
              </a:defRPr>
            </a:pPr>
            <a:r>
              <a:rPr sz="1050" b="0" i="0">
                <a:solidFill>
                  <a:srgbClr val="B8AABD"/>
                </a:solidFill>
              </a:rPr>
              <a:t>Open VSX extension, beta communities, referrals, and first paid teams.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4D888-0167-4F19-AF48-B8398C26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0E14C-A525-4F2F-8BE9-CDEE670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$50K–$100K PRE-SEED / ACCELERATOR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571F6-3426-46AB-81FF-6B19372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Also seeking introductions to AI-first builders, student developer communities, and design partners.</a:t>
            </a:r>
          </a:p>
        </p:txBody>
      </p:sp>
    </p:spTree>
    <p:extLst>
      <p:ext uri="{BB962C8B-B14F-4D97-AF65-F5344CB8AC3E}">
        <p14:creationId xmlns:p14="http://schemas.microsoft.com/office/powerpoint/2010/main" val="1683466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EB8BA-15A5-43C2-A171-01A33CF9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46B91-2E37-4991-91C3-BA0678B7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1211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C0023-5334-4A96-A5B7-CDDCF7B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706A9-EAC6-4DBF-9319-ED4B47A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PRESTON@UNVIBE.SITE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046ED-EB64-4163-94BB-3B7F1AE1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FE7A7-7C3E-4AF5-9D70-7EEB7F8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511C6-8644-471D-8863-0FDBE3C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86AAE-8F56-4992-82FD-4593B058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71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Built by someone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inside the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DF49-E3E3-4860-88BD-CC4948C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Preston Susanto is a solo technical founder building Unvibe while using AI coding tools every day—and feeling the ownership gap firsthand.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E82F4-B40C-44D1-A499-638FE1AB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1BE5B-250C-423D-A9D0-12D15714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Product, desktop, backend, and launch motion built end-to-end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1655F-B89F-46F4-904C-C3D1BE1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A58EA-51BF-405E-A4B3-FF8B9215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Rapid user-feedback loop with public build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D7FB4-922D-487E-965E-D969376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6E7F5-E16C-47B8-A369-C546062D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Google Developers Group DVC founder and hackathon organizer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E9C82-8F03-4136-8314-FE79ADA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DCEB9-10BE-4154-BE56-E7F9E5A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Mission: make AI development understandable, verifiable, and retainable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ED879-FF75-47C3-AABA-F5DFFC2A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57200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919e4a26d4d53"/>
          <a:stretch xmlns:a="http://schemas.openxmlformats.org/drawingml/2006/main"/>
        </p:blipFill>
        <p:spPr>
          <a:xfrm xmlns:a="http://schemas.openxmlformats.org/drawingml/2006/main">
            <a:off x="8362950" y="1562100"/>
            <a:ext cx="1181100" cy="1181100"/>
          </a:xfrm>
          <a:prstGeom xmlns:a="http://schemas.openxmlformats.org/drawingml/2006/main" prst="roundRect">
            <a:avLst>
              <a:gd name="adj" fmla="val 16129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342F7-E5CF-4AFA-BE67-369FF34A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DF9"/>
                </a:solidFill>
              </a:defRPr>
            </a:pPr>
            <a:r>
              <a:rPr sz="2325" b="1" i="0">
                <a:solidFill>
                  <a:srgbClr val="FFFDF9"/>
                </a:solidFill>
              </a:rPr>
              <a:t>Make AI development</a:t>
            </a:r>
          </a:p>
          <a:p xmlns:a="http://schemas.openxmlformats.org/drawingml/2006/main">
            <a:pPr algn="ctr">
              <a:defRPr sz="2325" b="1" i="0">
                <a:solidFill>
                  <a:srgbClr val="FFFDF9"/>
                </a:solidFill>
              </a:defRPr>
            </a:pPr>
            <a:r>
              <a:rPr sz="2325" b="1" i="0">
                <a:solidFill>
                  <a:srgbClr val="FFFDF9"/>
                </a:solidFill>
              </a:rPr>
              <a:t>understandable.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67916-702F-44CA-9E14-F283DFB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3390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57BF3"/>
                </a:solidFill>
              </a:defRPr>
            </a:pPr>
            <a:r>
              <a:rPr sz="1125" b="1" i="0">
                <a:solidFill>
                  <a:srgbClr val="A57BF3"/>
                </a:solidFill>
              </a:rPr>
              <a:t>unvibe.site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DBB66-D7B9-4FF1-B8C4-F1703AF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7205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preston@unvibe.site</a:t>
            </a:r>
          </a:p>
        </p:txBody>
      </p:sp>
    </p:spTree>
    <p:extLst>
      <p:ext uri="{BB962C8B-B14F-4D97-AF65-F5344CB8AC3E}">
        <p14:creationId xmlns:p14="http://schemas.microsoft.com/office/powerpoint/2010/main" val="1154163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2026-08-31T22:00:00.5600000Z</dcterms:created>
  <dcterms:modified xsi:type="dcterms:W3CDTF">2026-08-31T22:00:00.5600000Z</dcterms:modified>
</coreProperties>
</file>